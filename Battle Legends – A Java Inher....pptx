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62" r:id="rId21"/>
    <p:sldId id="263" r:id="rId22"/>
    <p:sldId id="278" r:id="rId23"/>
    <p:sldId id="279" r:id="rId24"/>
    <p:sldId id="264" r:id="rId25"/>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3964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68213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07677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3968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154934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927133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737738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23289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693663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2029115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703717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4655147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495915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410324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6483548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3014044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6.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4"/>
          <a:stretch>
            <a:fillRect/>
          </a:stretch>
        </p:blipFill>
        <p:spPr>
          <a:xfrm>
            <a:off x="795528" y="6309360"/>
            <a:ext cx="13048488" cy="36576"/>
          </a:xfrm>
          <a:prstGeom prst="rect">
            <a:avLst/>
          </a:prstGeom>
        </p:spPr>
      </p:pic>
      <p:sp>
        <p:nvSpPr>
          <p:cNvPr id="6" name="Text 0"/>
          <p:cNvSpPr/>
          <p:nvPr/>
        </p:nvSpPr>
        <p:spPr>
          <a:xfrm>
            <a:off x="1362456" y="6592824"/>
            <a:ext cx="3127248" cy="402336"/>
          </a:xfrm>
          <a:prstGeom prst="rect">
            <a:avLst/>
          </a:prstGeom>
          <a:noFill/>
          <a:ln/>
        </p:spPr>
        <p:txBody>
          <a:bodyPr wrap="none" lIns="0" tIns="0" rIns="0" bIns="0" rtlCol="0" anchor="ctr"/>
          <a:lstStyle/>
          <a:p>
            <a:pPr marL="0" indent="0" algn="l">
              <a:lnSpc>
                <a:spcPts val="3120"/>
              </a:lnSpc>
              <a:buNone/>
            </a:pPr>
            <a:endParaRPr lang="en-US" sz="2230" dirty="0"/>
          </a:p>
        </p:txBody>
      </p:sp>
      <p:sp>
        <p:nvSpPr>
          <p:cNvPr id="7" name="Text 1"/>
          <p:cNvSpPr/>
          <p:nvPr/>
        </p:nvSpPr>
        <p:spPr>
          <a:xfrm>
            <a:off x="1362456" y="6986016"/>
            <a:ext cx="3127248" cy="246888"/>
          </a:xfrm>
          <a:prstGeom prst="rect">
            <a:avLst/>
          </a:prstGeom>
          <a:noFill/>
          <a:ln/>
        </p:spPr>
        <p:txBody>
          <a:bodyPr wrap="none" lIns="0" tIns="0" rIns="0" bIns="0" rtlCol="0" anchor="ctr"/>
          <a:lstStyle/>
          <a:p>
            <a:pPr marL="0" indent="0" algn="l">
              <a:lnSpc>
                <a:spcPts val="1870"/>
              </a:lnSpc>
              <a:buNone/>
            </a:pPr>
            <a:r>
              <a:rPr lang="en-US" sz="1330" dirty="0" err="1">
                <a:solidFill>
                  <a:srgbClr val="FFFFFF"/>
                </a:solidFill>
                <a:latin typeface="Times New Roman" panose="02020603050405020304" pitchFamily="18" charset="0"/>
                <a:ea typeface="思源黑体-思源黑体-Medium" pitchFamily="34" charset="-122"/>
                <a:cs typeface="Times New Roman" panose="02020603050405020304" pitchFamily="18" charset="0"/>
              </a:rPr>
              <a:t>i</a:t>
            </a:r>
            <a:endParaRPr lang="en-US" sz="1330" dirty="0"/>
          </a:p>
        </p:txBody>
      </p:sp>
      <p:pic>
        <p:nvPicPr>
          <p:cNvPr id="10" name="Picture 9" descr="A group of people standing in front of a shield&#10;&#10;Description automatically generated">
            <a:extLst>
              <a:ext uri="{FF2B5EF4-FFF2-40B4-BE49-F238E27FC236}">
                <a16:creationId xmlns:a16="http://schemas.microsoft.com/office/drawing/2014/main" id="{343B86A0-96EE-DD45-C5FF-B7FD34D931B3}"/>
              </a:ext>
            </a:extLst>
          </p:cNvPr>
          <p:cNvPicPr>
            <a:picLocks noChangeAspect="1"/>
          </p:cNvPicPr>
          <p:nvPr/>
        </p:nvPicPr>
        <p:blipFill>
          <a:blip r:embed="rId5"/>
          <a:stretch>
            <a:fillRect/>
          </a:stretch>
        </p:blipFill>
        <p:spPr>
          <a:xfrm>
            <a:off x="0" y="0"/>
            <a:ext cx="1463040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2066544"/>
            <a:ext cx="13048488" cy="978408"/>
          </a:xfrm>
          <a:prstGeom prst="rect">
            <a:avLst/>
          </a:prstGeom>
          <a:noFill/>
          <a:ln/>
        </p:spPr>
        <p:txBody>
          <a:bodyPr wrap="none" lIns="0" tIns="0" rIns="0" bIns="0" rtlCol="0" anchor="ctr"/>
          <a:lstStyle/>
          <a:p>
            <a:pPr marL="0" indent="0" algn="l">
              <a:lnSpc>
                <a:spcPts val="7700"/>
              </a:lnSpc>
              <a:buNone/>
            </a:pPr>
            <a:r>
              <a:rPr lang="en-US" sz="616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CONTENTS</a:t>
            </a:r>
            <a:endParaRPr lang="en-US" sz="6160" dirty="0"/>
          </a:p>
        </p:txBody>
      </p:sp>
      <p:sp>
        <p:nvSpPr>
          <p:cNvPr id="5" name="Text 1"/>
          <p:cNvSpPr/>
          <p:nvPr/>
        </p:nvSpPr>
        <p:spPr>
          <a:xfrm>
            <a:off x="1024128" y="3529584"/>
            <a:ext cx="5961888" cy="356616"/>
          </a:xfrm>
          <a:prstGeom prst="rect">
            <a:avLst/>
          </a:prstGeom>
          <a:noFill/>
          <a:ln/>
        </p:spPr>
        <p:txBody>
          <a:bodyPr wrap="none" lIns="0" tIns="0" rIns="0" bIns="0" rtlCol="0" anchor="ctr"/>
          <a:lstStyle/>
          <a:p>
            <a:pPr marL="0" indent="0" algn="l">
              <a:lnSpc>
                <a:spcPts val="2790"/>
              </a:lnSpc>
              <a:buNone/>
            </a:pPr>
            <a:r>
              <a:rPr lang="en-US" sz="223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1. Project Scenario</a:t>
            </a:r>
            <a:endParaRPr lang="en-US" sz="2230" dirty="0"/>
          </a:p>
        </p:txBody>
      </p:sp>
      <p:sp>
        <p:nvSpPr>
          <p:cNvPr id="6" name="Text 2"/>
          <p:cNvSpPr/>
          <p:nvPr/>
        </p:nvSpPr>
        <p:spPr>
          <a:xfrm>
            <a:off x="1024128" y="4562856"/>
            <a:ext cx="5961888" cy="356616"/>
          </a:xfrm>
          <a:prstGeom prst="rect">
            <a:avLst/>
          </a:prstGeom>
          <a:noFill/>
          <a:ln/>
        </p:spPr>
        <p:txBody>
          <a:bodyPr wrap="none" lIns="0" tIns="0" rIns="0" bIns="0" rtlCol="0" anchor="ctr"/>
          <a:lstStyle/>
          <a:p>
            <a:pPr marL="0" indent="0" algn="l">
              <a:lnSpc>
                <a:spcPts val="2790"/>
              </a:lnSpc>
              <a:buNone/>
            </a:pPr>
            <a:r>
              <a:rPr lang="en-US" sz="223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3. Key Concepts</a:t>
            </a:r>
            <a:endParaRPr lang="en-US" sz="2230" dirty="0"/>
          </a:p>
        </p:txBody>
      </p:sp>
      <p:sp>
        <p:nvSpPr>
          <p:cNvPr id="7" name="Text 3"/>
          <p:cNvSpPr/>
          <p:nvPr/>
        </p:nvSpPr>
        <p:spPr>
          <a:xfrm>
            <a:off x="1024128" y="5596128"/>
            <a:ext cx="5961888" cy="356616"/>
          </a:xfrm>
          <a:prstGeom prst="rect">
            <a:avLst/>
          </a:prstGeom>
          <a:noFill/>
          <a:ln/>
        </p:spPr>
        <p:txBody>
          <a:bodyPr wrap="none" lIns="0" tIns="0" rIns="0" bIns="0" rtlCol="0" anchor="ctr"/>
          <a:lstStyle/>
          <a:p>
            <a:pPr marL="0" indent="0" algn="l">
              <a:lnSpc>
                <a:spcPts val="2790"/>
              </a:lnSpc>
              <a:buNone/>
            </a:pPr>
            <a:r>
              <a:rPr lang="en-US" sz="223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5. Input and Output</a:t>
            </a:r>
            <a:endParaRPr lang="en-US" sz="2230" dirty="0"/>
          </a:p>
        </p:txBody>
      </p:sp>
      <p:sp>
        <p:nvSpPr>
          <p:cNvPr id="8" name="Text 4"/>
          <p:cNvSpPr/>
          <p:nvPr/>
        </p:nvSpPr>
        <p:spPr>
          <a:xfrm>
            <a:off x="7662672" y="3529584"/>
            <a:ext cx="5961888" cy="356616"/>
          </a:xfrm>
          <a:prstGeom prst="rect">
            <a:avLst/>
          </a:prstGeom>
          <a:noFill/>
          <a:ln/>
        </p:spPr>
        <p:txBody>
          <a:bodyPr wrap="none" lIns="0" tIns="0" rIns="0" bIns="0" rtlCol="0" anchor="ctr"/>
          <a:lstStyle/>
          <a:p>
            <a:pPr marL="0" indent="0" algn="l">
              <a:lnSpc>
                <a:spcPts val="2790"/>
              </a:lnSpc>
              <a:buNone/>
            </a:pPr>
            <a:r>
              <a:rPr lang="en-US" sz="223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2. Objective</a:t>
            </a:r>
            <a:endParaRPr lang="en-US" sz="2230" dirty="0"/>
          </a:p>
        </p:txBody>
      </p:sp>
      <p:sp>
        <p:nvSpPr>
          <p:cNvPr id="9" name="Text 5"/>
          <p:cNvSpPr/>
          <p:nvPr/>
        </p:nvSpPr>
        <p:spPr>
          <a:xfrm>
            <a:off x="7662672" y="4562856"/>
            <a:ext cx="5961888" cy="356616"/>
          </a:xfrm>
          <a:prstGeom prst="rect">
            <a:avLst/>
          </a:prstGeom>
          <a:noFill/>
          <a:ln/>
        </p:spPr>
        <p:txBody>
          <a:bodyPr wrap="none" lIns="0" tIns="0" rIns="0" bIns="0" rtlCol="0" anchor="ctr"/>
          <a:lstStyle/>
          <a:p>
            <a:pPr marL="0" indent="0" algn="l">
              <a:lnSpc>
                <a:spcPts val="2790"/>
              </a:lnSpc>
              <a:buNone/>
            </a:pPr>
            <a:r>
              <a:rPr lang="en-US" sz="223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230" dirty="0"/>
          </a:p>
        </p:txBody>
      </p:sp>
      <p:sp>
        <p:nvSpPr>
          <p:cNvPr id="10" name="Text 6"/>
          <p:cNvSpPr/>
          <p:nvPr/>
        </p:nvSpPr>
        <p:spPr>
          <a:xfrm>
            <a:off x="7662672" y="5596128"/>
            <a:ext cx="5961888" cy="356616"/>
          </a:xfrm>
          <a:prstGeom prst="rect">
            <a:avLst/>
          </a:prstGeom>
          <a:noFill/>
          <a:ln/>
        </p:spPr>
        <p:txBody>
          <a:bodyPr wrap="none" lIns="0" tIns="0" rIns="0" bIns="0" rtlCol="0" anchor="ctr"/>
          <a:lstStyle/>
          <a:p>
            <a:pPr marL="0" indent="0" algn="l">
              <a:lnSpc>
                <a:spcPts val="2790"/>
              </a:lnSpc>
              <a:buNone/>
            </a:pPr>
            <a:r>
              <a:rPr lang="en-US" sz="223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6. Explanation of Code</a:t>
            </a:r>
            <a:endParaRPr lang="en-US" sz="22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95528" y="2487168"/>
            <a:ext cx="6428232" cy="896112"/>
          </a:xfrm>
          <a:prstGeom prst="rect">
            <a:avLst/>
          </a:prstGeom>
        </p:spPr>
      </p:pic>
      <p:pic>
        <p:nvPicPr>
          <p:cNvPr id="5" name="Image 3" descr="preencoded.png"/>
          <p:cNvPicPr>
            <a:picLocks noChangeAspect="1"/>
          </p:cNvPicPr>
          <p:nvPr/>
        </p:nvPicPr>
        <p:blipFill>
          <a:blip r:embed="rId5"/>
          <a:stretch>
            <a:fillRect/>
          </a:stretch>
        </p:blipFill>
        <p:spPr>
          <a:xfrm>
            <a:off x="795528" y="3575304"/>
            <a:ext cx="6428232" cy="896112"/>
          </a:xfrm>
          <a:prstGeom prst="rect">
            <a:avLst/>
          </a:prstGeom>
        </p:spPr>
      </p:pic>
      <p:pic>
        <p:nvPicPr>
          <p:cNvPr id="6" name="Image 4" descr="preencoded.png"/>
          <p:cNvPicPr>
            <a:picLocks noChangeAspect="1"/>
          </p:cNvPicPr>
          <p:nvPr/>
        </p:nvPicPr>
        <p:blipFill>
          <a:blip r:embed="rId5"/>
          <a:stretch>
            <a:fillRect/>
          </a:stretch>
        </p:blipFill>
        <p:spPr>
          <a:xfrm>
            <a:off x="795528" y="4663440"/>
            <a:ext cx="6428232" cy="896112"/>
          </a:xfrm>
          <a:prstGeom prst="rect">
            <a:avLst/>
          </a:prstGeom>
        </p:spPr>
      </p:pic>
      <p:pic>
        <p:nvPicPr>
          <p:cNvPr id="7" name="Image 5" descr="preencoded.png"/>
          <p:cNvPicPr>
            <a:picLocks noChangeAspect="1"/>
          </p:cNvPicPr>
          <p:nvPr/>
        </p:nvPicPr>
        <p:blipFill>
          <a:blip r:embed="rId5"/>
          <a:stretch>
            <a:fillRect/>
          </a:stretch>
        </p:blipFill>
        <p:spPr>
          <a:xfrm>
            <a:off x="7415784" y="2487168"/>
            <a:ext cx="6428232" cy="896112"/>
          </a:xfrm>
          <a:prstGeom prst="rect">
            <a:avLst/>
          </a:prstGeom>
        </p:spPr>
      </p:pic>
      <p:pic>
        <p:nvPicPr>
          <p:cNvPr id="8" name="Image 6" descr="preencoded.png"/>
          <p:cNvPicPr>
            <a:picLocks noChangeAspect="1"/>
          </p:cNvPicPr>
          <p:nvPr/>
        </p:nvPicPr>
        <p:blipFill>
          <a:blip r:embed="rId5"/>
          <a:stretch>
            <a:fillRect/>
          </a:stretch>
        </p:blipFill>
        <p:spPr>
          <a:xfrm>
            <a:off x="7415784" y="3575304"/>
            <a:ext cx="6428232" cy="896112"/>
          </a:xfrm>
          <a:prstGeom prst="rect">
            <a:avLst/>
          </a:prstGeom>
        </p:spPr>
      </p:pic>
      <p:pic>
        <p:nvPicPr>
          <p:cNvPr id="9" name="Image 7" descr="preencoded.png"/>
          <p:cNvPicPr>
            <a:picLocks noChangeAspect="1"/>
          </p:cNvPicPr>
          <p:nvPr/>
        </p:nvPicPr>
        <p:blipFill>
          <a:blip r:embed="rId5"/>
          <a:stretch>
            <a:fillRect/>
          </a:stretch>
        </p:blipFill>
        <p:spPr>
          <a:xfrm>
            <a:off x="7415784" y="4663440"/>
            <a:ext cx="6428232" cy="896112"/>
          </a:xfrm>
          <a:prstGeom prst="rect">
            <a:avLst/>
          </a:prstGeom>
        </p:spPr>
      </p:pic>
      <p:pic>
        <p:nvPicPr>
          <p:cNvPr id="10" name="Image 8" descr="preencoded.png"/>
          <p:cNvPicPr>
            <a:picLocks noChangeAspect="1"/>
          </p:cNvPicPr>
          <p:nvPr/>
        </p:nvPicPr>
        <p:blipFill>
          <a:blip r:embed="rId6"/>
          <a:stretch>
            <a:fillRect/>
          </a:stretch>
        </p:blipFill>
        <p:spPr>
          <a:xfrm>
            <a:off x="1426464" y="2551176"/>
            <a:ext cx="5806440" cy="896112"/>
          </a:xfrm>
          <a:prstGeom prst="rect">
            <a:avLst/>
          </a:prstGeom>
        </p:spPr>
      </p:pic>
      <p:pic>
        <p:nvPicPr>
          <p:cNvPr id="11" name="Image 9" descr="preencoded.png"/>
          <p:cNvPicPr>
            <a:picLocks noChangeAspect="1"/>
          </p:cNvPicPr>
          <p:nvPr/>
        </p:nvPicPr>
        <p:blipFill>
          <a:blip r:embed="rId6"/>
          <a:stretch>
            <a:fillRect/>
          </a:stretch>
        </p:blipFill>
        <p:spPr>
          <a:xfrm>
            <a:off x="1426464" y="3639312"/>
            <a:ext cx="5806440" cy="896112"/>
          </a:xfrm>
          <a:prstGeom prst="rect">
            <a:avLst/>
          </a:prstGeom>
        </p:spPr>
      </p:pic>
      <p:pic>
        <p:nvPicPr>
          <p:cNvPr id="12" name="Image 10" descr="preencoded.png"/>
          <p:cNvPicPr>
            <a:picLocks noChangeAspect="1"/>
          </p:cNvPicPr>
          <p:nvPr/>
        </p:nvPicPr>
        <p:blipFill>
          <a:blip r:embed="rId6"/>
          <a:stretch>
            <a:fillRect/>
          </a:stretch>
        </p:blipFill>
        <p:spPr>
          <a:xfrm>
            <a:off x="1426464" y="4727448"/>
            <a:ext cx="5806440" cy="896112"/>
          </a:xfrm>
          <a:prstGeom prst="rect">
            <a:avLst/>
          </a:prstGeom>
        </p:spPr>
      </p:pic>
      <p:pic>
        <p:nvPicPr>
          <p:cNvPr id="13" name="Image 11" descr="preencoded.png"/>
          <p:cNvPicPr>
            <a:picLocks noChangeAspect="1"/>
          </p:cNvPicPr>
          <p:nvPr/>
        </p:nvPicPr>
        <p:blipFill>
          <a:blip r:embed="rId6"/>
          <a:stretch>
            <a:fillRect/>
          </a:stretch>
        </p:blipFill>
        <p:spPr>
          <a:xfrm>
            <a:off x="8046720" y="2551176"/>
            <a:ext cx="5806440" cy="896112"/>
          </a:xfrm>
          <a:prstGeom prst="rect">
            <a:avLst/>
          </a:prstGeom>
        </p:spPr>
      </p:pic>
      <p:pic>
        <p:nvPicPr>
          <p:cNvPr id="14" name="Image 12" descr="preencoded.png"/>
          <p:cNvPicPr>
            <a:picLocks noChangeAspect="1"/>
          </p:cNvPicPr>
          <p:nvPr/>
        </p:nvPicPr>
        <p:blipFill>
          <a:blip r:embed="rId6"/>
          <a:stretch>
            <a:fillRect/>
          </a:stretch>
        </p:blipFill>
        <p:spPr>
          <a:xfrm>
            <a:off x="8046720" y="3639312"/>
            <a:ext cx="5806440" cy="896112"/>
          </a:xfrm>
          <a:prstGeom prst="rect">
            <a:avLst/>
          </a:prstGeom>
        </p:spPr>
      </p:pic>
      <p:pic>
        <p:nvPicPr>
          <p:cNvPr id="15" name="Image 13" descr="preencoded.png"/>
          <p:cNvPicPr>
            <a:picLocks noChangeAspect="1"/>
          </p:cNvPicPr>
          <p:nvPr/>
        </p:nvPicPr>
        <p:blipFill>
          <a:blip r:embed="rId6"/>
          <a:stretch>
            <a:fillRect/>
          </a:stretch>
        </p:blipFill>
        <p:spPr>
          <a:xfrm>
            <a:off x="8046720" y="4727448"/>
            <a:ext cx="5806440" cy="896112"/>
          </a:xfrm>
          <a:prstGeom prst="rect">
            <a:avLst/>
          </a:prstGeom>
        </p:spPr>
      </p:pic>
      <p:pic>
        <p:nvPicPr>
          <p:cNvPr id="16" name="Image 14" descr="preencoded.png"/>
          <p:cNvPicPr>
            <a:picLocks noChangeAspect="1"/>
          </p:cNvPicPr>
          <p:nvPr/>
        </p:nvPicPr>
        <p:blipFill>
          <a:blip r:embed="rId7"/>
          <a:stretch>
            <a:fillRect/>
          </a:stretch>
        </p:blipFill>
        <p:spPr>
          <a:xfrm>
            <a:off x="795528" y="2487168"/>
            <a:ext cx="438912" cy="438912"/>
          </a:xfrm>
          <a:prstGeom prst="rect">
            <a:avLst/>
          </a:prstGeom>
        </p:spPr>
      </p:pic>
      <p:pic>
        <p:nvPicPr>
          <p:cNvPr id="17" name="Image 15" descr="preencoded.png"/>
          <p:cNvPicPr>
            <a:picLocks noChangeAspect="1"/>
          </p:cNvPicPr>
          <p:nvPr/>
        </p:nvPicPr>
        <p:blipFill>
          <a:blip r:embed="rId7"/>
          <a:stretch>
            <a:fillRect/>
          </a:stretch>
        </p:blipFill>
        <p:spPr>
          <a:xfrm>
            <a:off x="795528" y="3575304"/>
            <a:ext cx="438912" cy="438912"/>
          </a:xfrm>
          <a:prstGeom prst="rect">
            <a:avLst/>
          </a:prstGeom>
        </p:spPr>
      </p:pic>
      <p:pic>
        <p:nvPicPr>
          <p:cNvPr id="18" name="Image 16" descr="preencoded.png"/>
          <p:cNvPicPr>
            <a:picLocks noChangeAspect="1"/>
          </p:cNvPicPr>
          <p:nvPr/>
        </p:nvPicPr>
        <p:blipFill>
          <a:blip r:embed="rId7"/>
          <a:stretch>
            <a:fillRect/>
          </a:stretch>
        </p:blipFill>
        <p:spPr>
          <a:xfrm>
            <a:off x="795528" y="4663440"/>
            <a:ext cx="438912" cy="438912"/>
          </a:xfrm>
          <a:prstGeom prst="rect">
            <a:avLst/>
          </a:prstGeom>
        </p:spPr>
      </p:pic>
      <p:pic>
        <p:nvPicPr>
          <p:cNvPr id="19" name="Image 17" descr="preencoded.png"/>
          <p:cNvPicPr>
            <a:picLocks noChangeAspect="1"/>
          </p:cNvPicPr>
          <p:nvPr/>
        </p:nvPicPr>
        <p:blipFill>
          <a:blip r:embed="rId7"/>
          <a:stretch>
            <a:fillRect/>
          </a:stretch>
        </p:blipFill>
        <p:spPr>
          <a:xfrm>
            <a:off x="7415784" y="2487168"/>
            <a:ext cx="438912" cy="438912"/>
          </a:xfrm>
          <a:prstGeom prst="rect">
            <a:avLst/>
          </a:prstGeom>
        </p:spPr>
      </p:pic>
      <p:pic>
        <p:nvPicPr>
          <p:cNvPr id="20" name="Image 18" descr="preencoded.png"/>
          <p:cNvPicPr>
            <a:picLocks noChangeAspect="1"/>
          </p:cNvPicPr>
          <p:nvPr/>
        </p:nvPicPr>
        <p:blipFill>
          <a:blip r:embed="rId7"/>
          <a:stretch>
            <a:fillRect/>
          </a:stretch>
        </p:blipFill>
        <p:spPr>
          <a:xfrm>
            <a:off x="7415784" y="3575304"/>
            <a:ext cx="438912" cy="438912"/>
          </a:xfrm>
          <a:prstGeom prst="rect">
            <a:avLst/>
          </a:prstGeom>
        </p:spPr>
      </p:pic>
      <p:pic>
        <p:nvPicPr>
          <p:cNvPr id="21" name="Image 19" descr="preencoded.png"/>
          <p:cNvPicPr>
            <a:picLocks noChangeAspect="1"/>
          </p:cNvPicPr>
          <p:nvPr/>
        </p:nvPicPr>
        <p:blipFill>
          <a:blip r:embed="rId7"/>
          <a:stretch>
            <a:fillRect/>
          </a:stretch>
        </p:blipFill>
        <p:spPr>
          <a:xfrm>
            <a:off x="7415784" y="4663440"/>
            <a:ext cx="438912" cy="438912"/>
          </a:xfrm>
          <a:prstGeom prst="rect">
            <a:avLst/>
          </a:prstGeom>
        </p:spPr>
      </p:pic>
      <p:sp>
        <p:nvSpPr>
          <p:cNvPr id="22" name="Text 0"/>
          <p:cNvSpPr/>
          <p:nvPr/>
        </p:nvSpPr>
        <p:spPr>
          <a:xfrm>
            <a:off x="795528" y="877824"/>
            <a:ext cx="13048488" cy="603504"/>
          </a:xfrm>
          <a:prstGeom prst="rect">
            <a:avLst/>
          </a:prstGeom>
          <a:noFill/>
          <a:ln/>
        </p:spPr>
        <p:txBody>
          <a:bodyPr wrap="none" lIns="0" tIns="0" rIns="0" bIns="0" rtlCol="0" anchor="ctr"/>
          <a:lstStyle/>
          <a:p>
            <a:pPr marL="0" indent="0" algn="l">
              <a:lnSpc>
                <a:spcPts val="4740"/>
              </a:lnSpc>
              <a:buNone/>
            </a:pPr>
            <a:r>
              <a:rPr lang="en-US" sz="379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1. Project Scenario</a:t>
            </a:r>
            <a:endParaRPr lang="en-US" sz="3790" dirty="0"/>
          </a:p>
        </p:txBody>
      </p:sp>
      <p:sp>
        <p:nvSpPr>
          <p:cNvPr id="23" name="Text 1"/>
          <p:cNvSpPr/>
          <p:nvPr/>
        </p:nvSpPr>
        <p:spPr>
          <a:xfrm>
            <a:off x="795528" y="1691640"/>
            <a:ext cx="13048488" cy="585216"/>
          </a:xfrm>
          <a:prstGeom prst="rect">
            <a:avLst/>
          </a:prstGeom>
          <a:noFill/>
          <a:ln/>
        </p:spPr>
        <p:txBody>
          <a:bodyPr wrap="square" lIns="0" tIns="0" rIns="0" bIns="0" rtlCol="0" anchor="ctr"/>
          <a:lstStyle/>
          <a:p>
            <a:pPr marL="0" indent="0" algn="l">
              <a:lnSpc>
                <a:spcPts val="2270"/>
              </a:lnSpc>
              <a:buNone/>
            </a:pPr>
            <a:r>
              <a:rPr lang="en-US" sz="151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In ancient Bharat, during the age of epic wars and divine beings, six mythological heroes rise to protect righteousness (Dharma) and restore peace. The heroes include:</a:t>
            </a:r>
            <a:endParaRPr lang="en-US" sz="1510" dirty="0"/>
          </a:p>
        </p:txBody>
      </p:sp>
      <p:sp>
        <p:nvSpPr>
          <p:cNvPr id="24" name="Text 2"/>
          <p:cNvSpPr/>
          <p:nvPr/>
        </p:nvSpPr>
        <p:spPr>
          <a:xfrm>
            <a:off x="932688" y="2496312"/>
            <a:ext cx="164592" cy="420624"/>
          </a:xfrm>
          <a:prstGeom prst="rect">
            <a:avLst/>
          </a:prstGeom>
          <a:noFill/>
          <a:ln/>
        </p:spPr>
        <p:txBody>
          <a:bodyPr wrap="none" lIns="0" tIns="0" rIns="0" bIns="0" rtlCol="0" anchor="ctr"/>
          <a:lstStyle/>
          <a:p>
            <a:pPr marL="0" indent="0" algn="l">
              <a:lnSpc>
                <a:spcPts val="2730"/>
              </a:lnSpc>
              <a:buNone/>
            </a:pPr>
            <a:r>
              <a:rPr lang="en-US" sz="227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1</a:t>
            </a:r>
            <a:endParaRPr lang="en-US" sz="2270" dirty="0"/>
          </a:p>
        </p:txBody>
      </p:sp>
      <p:sp>
        <p:nvSpPr>
          <p:cNvPr id="25" name="Text 3"/>
          <p:cNvSpPr/>
          <p:nvPr/>
        </p:nvSpPr>
        <p:spPr>
          <a:xfrm>
            <a:off x="1426464" y="2551176"/>
            <a:ext cx="5806440" cy="301752"/>
          </a:xfrm>
          <a:prstGeom prst="rect">
            <a:avLst/>
          </a:prstGeom>
          <a:noFill/>
          <a:ln/>
        </p:spPr>
        <p:txBody>
          <a:bodyPr wrap="none" lIns="0" tIns="0" rIns="0" bIns="0" rtlCol="0" anchor="ctr"/>
          <a:lstStyle/>
          <a:p>
            <a:pPr marL="0" indent="0" algn="l">
              <a:lnSpc>
                <a:spcPts val="2370"/>
              </a:lnSpc>
              <a:buNone/>
            </a:pPr>
            <a:r>
              <a:rPr lang="en-US" sz="189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Arjuna</a:t>
            </a:r>
            <a:endParaRPr lang="en-US" sz="1890" dirty="0"/>
          </a:p>
        </p:txBody>
      </p:sp>
      <p:sp>
        <p:nvSpPr>
          <p:cNvPr id="26" name="Text 4"/>
          <p:cNvSpPr/>
          <p:nvPr/>
        </p:nvSpPr>
        <p:spPr>
          <a:xfrm>
            <a:off x="1426464" y="3026664"/>
            <a:ext cx="5806440" cy="292608"/>
          </a:xfrm>
          <a:prstGeom prst="rect">
            <a:avLst/>
          </a:prstGeom>
          <a:noFill/>
          <a:ln/>
        </p:spPr>
        <p:txBody>
          <a:bodyPr wrap="none" lIns="0" tIns="0" rIns="0" bIns="0" rtlCol="0" anchor="ctr"/>
          <a:lstStyle/>
          <a:p>
            <a:pPr marL="0" indent="0" algn="l">
              <a:lnSpc>
                <a:spcPts val="2270"/>
              </a:lnSpc>
              <a:buNone/>
            </a:pPr>
            <a:r>
              <a:rPr lang="en-US" sz="151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Master archer of the Pandava clan.</a:t>
            </a:r>
            <a:endParaRPr lang="en-US" sz="1510" dirty="0"/>
          </a:p>
        </p:txBody>
      </p:sp>
      <p:sp>
        <p:nvSpPr>
          <p:cNvPr id="27" name="Text 5"/>
          <p:cNvSpPr/>
          <p:nvPr/>
        </p:nvSpPr>
        <p:spPr>
          <a:xfrm>
            <a:off x="932688" y="3584448"/>
            <a:ext cx="164592" cy="420624"/>
          </a:xfrm>
          <a:prstGeom prst="rect">
            <a:avLst/>
          </a:prstGeom>
          <a:noFill/>
          <a:ln/>
        </p:spPr>
        <p:txBody>
          <a:bodyPr wrap="none" lIns="0" tIns="0" rIns="0" bIns="0" rtlCol="0" anchor="ctr"/>
          <a:lstStyle/>
          <a:p>
            <a:pPr marL="0" indent="0" algn="l">
              <a:lnSpc>
                <a:spcPts val="2730"/>
              </a:lnSpc>
              <a:buNone/>
            </a:pPr>
            <a:r>
              <a:rPr lang="en-US" sz="227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3</a:t>
            </a:r>
            <a:endParaRPr lang="en-US" sz="2270" dirty="0"/>
          </a:p>
        </p:txBody>
      </p:sp>
      <p:sp>
        <p:nvSpPr>
          <p:cNvPr id="28" name="Text 6"/>
          <p:cNvSpPr/>
          <p:nvPr/>
        </p:nvSpPr>
        <p:spPr>
          <a:xfrm>
            <a:off x="1426464" y="3639312"/>
            <a:ext cx="5806440" cy="301752"/>
          </a:xfrm>
          <a:prstGeom prst="rect">
            <a:avLst/>
          </a:prstGeom>
          <a:noFill/>
          <a:ln/>
        </p:spPr>
        <p:txBody>
          <a:bodyPr wrap="none" lIns="0" tIns="0" rIns="0" bIns="0" rtlCol="0" anchor="ctr"/>
          <a:lstStyle/>
          <a:p>
            <a:pPr marL="0" indent="0" algn="l">
              <a:lnSpc>
                <a:spcPts val="2370"/>
              </a:lnSpc>
              <a:buNone/>
            </a:pPr>
            <a:r>
              <a:rPr lang="en-US" sz="189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Krishna</a:t>
            </a:r>
            <a:endParaRPr lang="en-US" sz="1890" dirty="0"/>
          </a:p>
        </p:txBody>
      </p:sp>
      <p:sp>
        <p:nvSpPr>
          <p:cNvPr id="29" name="Text 7"/>
          <p:cNvSpPr/>
          <p:nvPr/>
        </p:nvSpPr>
        <p:spPr>
          <a:xfrm>
            <a:off x="1426464" y="4114800"/>
            <a:ext cx="5806440" cy="292608"/>
          </a:xfrm>
          <a:prstGeom prst="rect">
            <a:avLst/>
          </a:prstGeom>
          <a:noFill/>
          <a:ln/>
        </p:spPr>
        <p:txBody>
          <a:bodyPr wrap="none" lIns="0" tIns="0" rIns="0" bIns="0" rtlCol="0" anchor="ctr"/>
          <a:lstStyle/>
          <a:p>
            <a:pPr marL="0" indent="0" algn="l">
              <a:lnSpc>
                <a:spcPts val="2270"/>
              </a:lnSpc>
              <a:buNone/>
            </a:pPr>
            <a:r>
              <a:rPr lang="en-US" sz="151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Supreme deity guiding warriors and strategizing battles.</a:t>
            </a:r>
            <a:endParaRPr lang="en-US" sz="1510" dirty="0"/>
          </a:p>
        </p:txBody>
      </p:sp>
      <p:sp>
        <p:nvSpPr>
          <p:cNvPr id="30" name="Text 8"/>
          <p:cNvSpPr/>
          <p:nvPr/>
        </p:nvSpPr>
        <p:spPr>
          <a:xfrm>
            <a:off x="932688" y="4672584"/>
            <a:ext cx="164592" cy="420624"/>
          </a:xfrm>
          <a:prstGeom prst="rect">
            <a:avLst/>
          </a:prstGeom>
          <a:noFill/>
          <a:ln/>
        </p:spPr>
        <p:txBody>
          <a:bodyPr wrap="none" lIns="0" tIns="0" rIns="0" bIns="0" rtlCol="0" anchor="ctr"/>
          <a:lstStyle/>
          <a:p>
            <a:pPr marL="0" indent="0" algn="l">
              <a:lnSpc>
                <a:spcPts val="2730"/>
              </a:lnSpc>
              <a:buNone/>
            </a:pPr>
            <a:r>
              <a:rPr lang="en-US" sz="227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5</a:t>
            </a:r>
            <a:endParaRPr lang="en-US" sz="2270" dirty="0"/>
          </a:p>
        </p:txBody>
      </p:sp>
      <p:sp>
        <p:nvSpPr>
          <p:cNvPr id="31" name="Text 9"/>
          <p:cNvSpPr/>
          <p:nvPr/>
        </p:nvSpPr>
        <p:spPr>
          <a:xfrm>
            <a:off x="1426464" y="4727448"/>
            <a:ext cx="5806440" cy="301752"/>
          </a:xfrm>
          <a:prstGeom prst="rect">
            <a:avLst/>
          </a:prstGeom>
          <a:noFill/>
          <a:ln/>
        </p:spPr>
        <p:txBody>
          <a:bodyPr wrap="none" lIns="0" tIns="0" rIns="0" bIns="0" rtlCol="0" anchor="ctr"/>
          <a:lstStyle/>
          <a:p>
            <a:pPr marL="0" indent="0" algn="l">
              <a:lnSpc>
                <a:spcPts val="2370"/>
              </a:lnSpc>
              <a:buNone/>
            </a:pPr>
            <a:r>
              <a:rPr lang="en-US" sz="189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Dhanvantari</a:t>
            </a:r>
            <a:endParaRPr lang="en-US" sz="1890" dirty="0"/>
          </a:p>
        </p:txBody>
      </p:sp>
      <p:sp>
        <p:nvSpPr>
          <p:cNvPr id="32" name="Text 10"/>
          <p:cNvSpPr/>
          <p:nvPr/>
        </p:nvSpPr>
        <p:spPr>
          <a:xfrm>
            <a:off x="1426464" y="5202936"/>
            <a:ext cx="5806440" cy="292608"/>
          </a:xfrm>
          <a:prstGeom prst="rect">
            <a:avLst/>
          </a:prstGeom>
          <a:noFill/>
          <a:ln/>
        </p:spPr>
        <p:txBody>
          <a:bodyPr wrap="none" lIns="0" tIns="0" rIns="0" bIns="0" rtlCol="0" anchor="ctr"/>
          <a:lstStyle/>
          <a:p>
            <a:pPr marL="0" indent="0" algn="l">
              <a:lnSpc>
                <a:spcPts val="2270"/>
              </a:lnSpc>
              <a:buNone/>
            </a:pPr>
            <a:r>
              <a:rPr lang="en-US" sz="151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Divine healer of gods.</a:t>
            </a:r>
            <a:endParaRPr lang="en-US" sz="1510" dirty="0"/>
          </a:p>
        </p:txBody>
      </p:sp>
      <p:sp>
        <p:nvSpPr>
          <p:cNvPr id="33" name="Text 11"/>
          <p:cNvSpPr/>
          <p:nvPr/>
        </p:nvSpPr>
        <p:spPr>
          <a:xfrm>
            <a:off x="795528" y="5779008"/>
            <a:ext cx="13048488" cy="585216"/>
          </a:xfrm>
          <a:prstGeom prst="rect">
            <a:avLst/>
          </a:prstGeom>
          <a:noFill/>
          <a:ln/>
        </p:spPr>
        <p:txBody>
          <a:bodyPr wrap="square" lIns="0" tIns="0" rIns="0" bIns="0" rtlCol="0" anchor="ctr"/>
          <a:lstStyle/>
          <a:p>
            <a:pPr marL="0" indent="0" algn="l">
              <a:lnSpc>
                <a:spcPts val="2270"/>
              </a:lnSpc>
              <a:buNone/>
            </a:pPr>
            <a:r>
              <a:rPr lang="en-US" sz="151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The player takes the role of one of these heroes and battles against randomly chosen opponents in the Kurukshetra Arena of Legends. Each hero has unique attacks and defenses inspired by their mythological powers.</a:t>
            </a:r>
            <a:endParaRPr lang="en-US" sz="1510" dirty="0"/>
          </a:p>
        </p:txBody>
      </p:sp>
      <p:sp>
        <p:nvSpPr>
          <p:cNvPr id="34" name="Text 12"/>
          <p:cNvSpPr/>
          <p:nvPr/>
        </p:nvSpPr>
        <p:spPr>
          <a:xfrm>
            <a:off x="795528" y="6574536"/>
            <a:ext cx="13048488" cy="585216"/>
          </a:xfrm>
          <a:prstGeom prst="rect">
            <a:avLst/>
          </a:prstGeom>
          <a:noFill/>
          <a:ln/>
        </p:spPr>
        <p:txBody>
          <a:bodyPr wrap="square" lIns="0" tIns="0" rIns="0" bIns="0" rtlCol="0" anchor="ctr"/>
          <a:lstStyle/>
          <a:p>
            <a:pPr marL="0" indent="0" algn="l">
              <a:lnSpc>
                <a:spcPts val="2270"/>
              </a:lnSpc>
              <a:buNone/>
            </a:pPr>
            <a:r>
              <a:rPr lang="en-US" sz="151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Every battle is unpredictable — strength, strategy, and divine blessings determine the outcome. Only the hero who masters their abilities can become the ultimate legend of Bharat.</a:t>
            </a:r>
            <a:endParaRPr lang="en-US" sz="1510" dirty="0"/>
          </a:p>
        </p:txBody>
      </p:sp>
      <p:sp>
        <p:nvSpPr>
          <p:cNvPr id="35" name="Text 13"/>
          <p:cNvSpPr/>
          <p:nvPr/>
        </p:nvSpPr>
        <p:spPr>
          <a:xfrm>
            <a:off x="7552944" y="2496312"/>
            <a:ext cx="164592" cy="420624"/>
          </a:xfrm>
          <a:prstGeom prst="rect">
            <a:avLst/>
          </a:prstGeom>
          <a:noFill/>
          <a:ln/>
        </p:spPr>
        <p:txBody>
          <a:bodyPr wrap="none" lIns="0" tIns="0" rIns="0" bIns="0" rtlCol="0" anchor="ctr"/>
          <a:lstStyle/>
          <a:p>
            <a:pPr marL="0" indent="0" algn="l">
              <a:lnSpc>
                <a:spcPts val="2730"/>
              </a:lnSpc>
              <a:buNone/>
            </a:pPr>
            <a:r>
              <a:rPr lang="en-US" sz="227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2</a:t>
            </a:r>
            <a:endParaRPr lang="en-US" sz="2270" dirty="0"/>
          </a:p>
        </p:txBody>
      </p:sp>
      <p:sp>
        <p:nvSpPr>
          <p:cNvPr id="36" name="Text 14"/>
          <p:cNvSpPr/>
          <p:nvPr/>
        </p:nvSpPr>
        <p:spPr>
          <a:xfrm>
            <a:off x="7552944" y="3584448"/>
            <a:ext cx="164592" cy="420624"/>
          </a:xfrm>
          <a:prstGeom prst="rect">
            <a:avLst/>
          </a:prstGeom>
          <a:noFill/>
          <a:ln/>
        </p:spPr>
        <p:txBody>
          <a:bodyPr wrap="none" lIns="0" tIns="0" rIns="0" bIns="0" rtlCol="0" anchor="ctr"/>
          <a:lstStyle/>
          <a:p>
            <a:pPr marL="0" indent="0" algn="l">
              <a:lnSpc>
                <a:spcPts val="2730"/>
              </a:lnSpc>
              <a:buNone/>
            </a:pPr>
            <a:r>
              <a:rPr lang="en-US" sz="227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4</a:t>
            </a:r>
            <a:endParaRPr lang="en-US" sz="2270" dirty="0"/>
          </a:p>
        </p:txBody>
      </p:sp>
      <p:sp>
        <p:nvSpPr>
          <p:cNvPr id="37" name="Text 15"/>
          <p:cNvSpPr/>
          <p:nvPr/>
        </p:nvSpPr>
        <p:spPr>
          <a:xfrm>
            <a:off x="8046720" y="2551176"/>
            <a:ext cx="5806440" cy="301752"/>
          </a:xfrm>
          <a:prstGeom prst="rect">
            <a:avLst/>
          </a:prstGeom>
          <a:noFill/>
          <a:ln/>
        </p:spPr>
        <p:txBody>
          <a:bodyPr wrap="none" lIns="0" tIns="0" rIns="0" bIns="0" rtlCol="0" anchor="ctr"/>
          <a:lstStyle/>
          <a:p>
            <a:pPr marL="0" indent="0" algn="l">
              <a:lnSpc>
                <a:spcPts val="2370"/>
              </a:lnSpc>
              <a:buNone/>
            </a:pPr>
            <a:r>
              <a:rPr lang="en-US" sz="189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Karna</a:t>
            </a:r>
            <a:endParaRPr lang="en-US" sz="1890" dirty="0"/>
          </a:p>
        </p:txBody>
      </p:sp>
      <p:sp>
        <p:nvSpPr>
          <p:cNvPr id="38" name="Text 16"/>
          <p:cNvSpPr/>
          <p:nvPr/>
        </p:nvSpPr>
        <p:spPr>
          <a:xfrm>
            <a:off x="8046720" y="3026664"/>
            <a:ext cx="5806440" cy="292608"/>
          </a:xfrm>
          <a:prstGeom prst="rect">
            <a:avLst/>
          </a:prstGeom>
          <a:noFill/>
          <a:ln/>
        </p:spPr>
        <p:txBody>
          <a:bodyPr wrap="none" lIns="0" tIns="0" rIns="0" bIns="0" rtlCol="0" anchor="ctr"/>
          <a:lstStyle/>
          <a:p>
            <a:pPr marL="0" indent="0" algn="l">
              <a:lnSpc>
                <a:spcPts val="2270"/>
              </a:lnSpc>
              <a:buNone/>
            </a:pPr>
            <a:r>
              <a:rPr lang="en-US" sz="151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Invincible warrior with divine armor.</a:t>
            </a:r>
            <a:endParaRPr lang="en-US" sz="1510" dirty="0"/>
          </a:p>
        </p:txBody>
      </p:sp>
      <p:sp>
        <p:nvSpPr>
          <p:cNvPr id="39" name="Text 17"/>
          <p:cNvSpPr/>
          <p:nvPr/>
        </p:nvSpPr>
        <p:spPr>
          <a:xfrm>
            <a:off x="8046720" y="3639312"/>
            <a:ext cx="5806440" cy="301752"/>
          </a:xfrm>
          <a:prstGeom prst="rect">
            <a:avLst/>
          </a:prstGeom>
          <a:noFill/>
          <a:ln/>
        </p:spPr>
        <p:txBody>
          <a:bodyPr wrap="none" lIns="0" tIns="0" rIns="0" bIns="0" rtlCol="0" anchor="ctr"/>
          <a:lstStyle/>
          <a:p>
            <a:pPr marL="0" indent="0" algn="l">
              <a:lnSpc>
                <a:spcPts val="2370"/>
              </a:lnSpc>
              <a:buNone/>
            </a:pPr>
            <a:r>
              <a:rPr lang="en-US" sz="189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Bhima</a:t>
            </a:r>
            <a:endParaRPr lang="en-US" sz="1890" dirty="0"/>
          </a:p>
        </p:txBody>
      </p:sp>
      <p:sp>
        <p:nvSpPr>
          <p:cNvPr id="40" name="Text 18"/>
          <p:cNvSpPr/>
          <p:nvPr/>
        </p:nvSpPr>
        <p:spPr>
          <a:xfrm>
            <a:off x="7552944" y="4672584"/>
            <a:ext cx="164592" cy="420624"/>
          </a:xfrm>
          <a:prstGeom prst="rect">
            <a:avLst/>
          </a:prstGeom>
          <a:noFill/>
          <a:ln/>
        </p:spPr>
        <p:txBody>
          <a:bodyPr wrap="none" lIns="0" tIns="0" rIns="0" bIns="0" rtlCol="0" anchor="ctr"/>
          <a:lstStyle/>
          <a:p>
            <a:pPr marL="0" indent="0" algn="l">
              <a:lnSpc>
                <a:spcPts val="2730"/>
              </a:lnSpc>
              <a:buNone/>
            </a:pPr>
            <a:r>
              <a:rPr lang="en-US" sz="227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6</a:t>
            </a:r>
            <a:endParaRPr lang="en-US" sz="2270" dirty="0"/>
          </a:p>
        </p:txBody>
      </p:sp>
      <p:sp>
        <p:nvSpPr>
          <p:cNvPr id="41" name="Text 19"/>
          <p:cNvSpPr/>
          <p:nvPr/>
        </p:nvSpPr>
        <p:spPr>
          <a:xfrm>
            <a:off x="8046720" y="4114800"/>
            <a:ext cx="5806440" cy="292608"/>
          </a:xfrm>
          <a:prstGeom prst="rect">
            <a:avLst/>
          </a:prstGeom>
          <a:noFill/>
          <a:ln/>
        </p:spPr>
        <p:txBody>
          <a:bodyPr wrap="none" lIns="0" tIns="0" rIns="0" bIns="0" rtlCol="0" anchor="ctr"/>
          <a:lstStyle/>
          <a:p>
            <a:pPr marL="0" indent="0" algn="l">
              <a:lnSpc>
                <a:spcPts val="2270"/>
              </a:lnSpc>
              <a:buNone/>
            </a:pPr>
            <a:r>
              <a:rPr lang="en-US" sz="151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Mighty Pandava known for immense strength.</a:t>
            </a:r>
            <a:endParaRPr lang="en-US" sz="1510" dirty="0"/>
          </a:p>
        </p:txBody>
      </p:sp>
      <p:sp>
        <p:nvSpPr>
          <p:cNvPr id="42" name="Text 20"/>
          <p:cNvSpPr/>
          <p:nvPr/>
        </p:nvSpPr>
        <p:spPr>
          <a:xfrm>
            <a:off x="8046720" y="4727448"/>
            <a:ext cx="5806440" cy="301752"/>
          </a:xfrm>
          <a:prstGeom prst="rect">
            <a:avLst/>
          </a:prstGeom>
          <a:noFill/>
          <a:ln/>
        </p:spPr>
        <p:txBody>
          <a:bodyPr wrap="none" lIns="0" tIns="0" rIns="0" bIns="0" rtlCol="0" anchor="ctr"/>
          <a:lstStyle/>
          <a:p>
            <a:pPr marL="0" indent="0" algn="l">
              <a:lnSpc>
                <a:spcPts val="2370"/>
              </a:lnSpc>
              <a:buNone/>
            </a:pPr>
            <a:r>
              <a:rPr lang="en-US" sz="189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Hanuman</a:t>
            </a:r>
            <a:endParaRPr lang="en-US" sz="1890" dirty="0"/>
          </a:p>
        </p:txBody>
      </p:sp>
      <p:sp>
        <p:nvSpPr>
          <p:cNvPr id="43" name="Text 21"/>
          <p:cNvSpPr/>
          <p:nvPr/>
        </p:nvSpPr>
        <p:spPr>
          <a:xfrm>
            <a:off x="8046720" y="5202936"/>
            <a:ext cx="5806440" cy="292608"/>
          </a:xfrm>
          <a:prstGeom prst="rect">
            <a:avLst/>
          </a:prstGeom>
          <a:noFill/>
          <a:ln/>
        </p:spPr>
        <p:txBody>
          <a:bodyPr wrap="none" lIns="0" tIns="0" rIns="0" bIns="0" rtlCol="0" anchor="ctr"/>
          <a:lstStyle/>
          <a:p>
            <a:pPr marL="0" indent="0" algn="l">
              <a:lnSpc>
                <a:spcPts val="2270"/>
              </a:lnSpc>
              <a:buNone/>
            </a:pPr>
            <a:r>
              <a:rPr lang="en-US" sz="151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Devotee with unmatched strength and loyalty.</a:t>
            </a:r>
            <a:endParaRPr lang="en-US" sz="151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56064" y="0"/>
            <a:ext cx="4974336" cy="8238744"/>
          </a:xfrm>
          <a:prstGeom prst="rect">
            <a:avLst/>
          </a:prstGeom>
        </p:spPr>
      </p:pic>
      <p:pic>
        <p:nvPicPr>
          <p:cNvPr id="4" name="Image 2" descr="preencoded.png"/>
          <p:cNvPicPr>
            <a:picLocks noChangeAspect="1"/>
          </p:cNvPicPr>
          <p:nvPr/>
        </p:nvPicPr>
        <p:blipFill>
          <a:blip r:embed="rId5"/>
          <a:stretch>
            <a:fillRect/>
          </a:stretch>
        </p:blipFill>
        <p:spPr>
          <a:xfrm>
            <a:off x="795528" y="2971800"/>
            <a:ext cx="3922776" cy="1819656"/>
          </a:xfrm>
          <a:prstGeom prst="rect">
            <a:avLst/>
          </a:prstGeom>
        </p:spPr>
      </p:pic>
      <p:pic>
        <p:nvPicPr>
          <p:cNvPr id="5" name="Image 3" descr="preencoded.png"/>
          <p:cNvPicPr>
            <a:picLocks noChangeAspect="1"/>
          </p:cNvPicPr>
          <p:nvPr/>
        </p:nvPicPr>
        <p:blipFill>
          <a:blip r:embed="rId5"/>
          <a:stretch>
            <a:fillRect/>
          </a:stretch>
        </p:blipFill>
        <p:spPr>
          <a:xfrm>
            <a:off x="795528" y="5010912"/>
            <a:ext cx="3922776" cy="1819656"/>
          </a:xfrm>
          <a:prstGeom prst="rect">
            <a:avLst/>
          </a:prstGeom>
        </p:spPr>
      </p:pic>
      <p:pic>
        <p:nvPicPr>
          <p:cNvPr id="6" name="Image 4" descr="preencoded.png"/>
          <p:cNvPicPr>
            <a:picLocks noChangeAspect="1"/>
          </p:cNvPicPr>
          <p:nvPr/>
        </p:nvPicPr>
        <p:blipFill>
          <a:blip r:embed="rId5"/>
          <a:stretch>
            <a:fillRect/>
          </a:stretch>
        </p:blipFill>
        <p:spPr>
          <a:xfrm>
            <a:off x="4946904" y="2971800"/>
            <a:ext cx="3922776" cy="1819656"/>
          </a:xfrm>
          <a:prstGeom prst="rect">
            <a:avLst/>
          </a:prstGeom>
        </p:spPr>
      </p:pic>
      <p:pic>
        <p:nvPicPr>
          <p:cNvPr id="7" name="Image 5" descr="preencoded.png"/>
          <p:cNvPicPr>
            <a:picLocks noChangeAspect="1"/>
          </p:cNvPicPr>
          <p:nvPr/>
        </p:nvPicPr>
        <p:blipFill>
          <a:blip r:embed="rId5"/>
          <a:stretch>
            <a:fillRect/>
          </a:stretch>
        </p:blipFill>
        <p:spPr>
          <a:xfrm>
            <a:off x="4946904" y="5010912"/>
            <a:ext cx="3922776" cy="1819656"/>
          </a:xfrm>
          <a:prstGeom prst="rect">
            <a:avLst/>
          </a:prstGeom>
        </p:spPr>
      </p:pic>
      <p:sp>
        <p:nvSpPr>
          <p:cNvPr id="8" name="Text 0"/>
          <p:cNvSpPr/>
          <p:nvPr/>
        </p:nvSpPr>
        <p:spPr>
          <a:xfrm>
            <a:off x="795528" y="1417320"/>
            <a:ext cx="8074152" cy="713232"/>
          </a:xfrm>
          <a:prstGeom prst="rect">
            <a:avLst/>
          </a:prstGeom>
          <a:noFill/>
          <a:ln/>
        </p:spPr>
        <p:txBody>
          <a:bodyPr wrap="none" lIns="0" tIns="0" rIns="0" bIns="0" rtlCol="0" anchor="ctr"/>
          <a:lstStyle/>
          <a:p>
            <a:pPr marL="0" indent="0" algn="l">
              <a:lnSpc>
                <a:spcPts val="5580"/>
              </a:lnSpc>
              <a:buNone/>
            </a:pPr>
            <a:r>
              <a:rPr lang="en-US" sz="446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2. Objective</a:t>
            </a:r>
            <a:endParaRPr lang="en-US" sz="4460" dirty="0"/>
          </a:p>
        </p:txBody>
      </p:sp>
      <p:sp>
        <p:nvSpPr>
          <p:cNvPr id="9" name="Text 1"/>
          <p:cNvSpPr/>
          <p:nvPr/>
        </p:nvSpPr>
        <p:spPr>
          <a:xfrm>
            <a:off x="795528" y="2377440"/>
            <a:ext cx="8074152" cy="347472"/>
          </a:xfrm>
          <a:prstGeom prst="rect">
            <a:avLst/>
          </a:prstGeom>
          <a:noFill/>
          <a:ln/>
        </p:spPr>
        <p:txBody>
          <a:bodyPr wrap="none" lIns="0" tIns="0" rIns="0" bIns="0" rtlCol="0" anchor="ctr"/>
          <a:lstStyle/>
          <a:p>
            <a:pPr marL="0" indent="0" algn="l">
              <a:lnSpc>
                <a:spcPts val="2670"/>
              </a:lnSpc>
              <a:buNone/>
            </a:pPr>
            <a:r>
              <a:rPr lang="en-US" sz="17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The main goal of this project is to:</a:t>
            </a:r>
            <a:endParaRPr lang="en-US" sz="1780" dirty="0"/>
          </a:p>
        </p:txBody>
      </p:sp>
      <p:sp>
        <p:nvSpPr>
          <p:cNvPr id="10" name="Text 2"/>
          <p:cNvSpPr/>
          <p:nvPr/>
        </p:nvSpPr>
        <p:spPr>
          <a:xfrm>
            <a:off x="1024128" y="3200400"/>
            <a:ext cx="3474720" cy="685800"/>
          </a:xfrm>
          <a:prstGeom prst="rect">
            <a:avLst/>
          </a:prstGeom>
          <a:noFill/>
          <a:ln/>
        </p:spPr>
        <p:txBody>
          <a:bodyPr wrap="square" lIns="0" tIns="0" rIns="0" bIns="0" rtlCol="0" anchor="ctr"/>
          <a:lstStyle/>
          <a:p>
            <a:pPr marL="0" indent="0" algn="l">
              <a:lnSpc>
                <a:spcPts val="2670"/>
              </a:lnSpc>
              <a:buNone/>
            </a:pPr>
            <a:r>
              <a:rPr lang="en-US" sz="17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Demonstrate the concept of inheritance in Java.</a:t>
            </a:r>
            <a:endParaRPr lang="en-US" sz="1780" dirty="0"/>
          </a:p>
        </p:txBody>
      </p:sp>
      <p:sp>
        <p:nvSpPr>
          <p:cNvPr id="11" name="Text 3"/>
          <p:cNvSpPr/>
          <p:nvPr/>
        </p:nvSpPr>
        <p:spPr>
          <a:xfrm>
            <a:off x="1024128" y="5239512"/>
            <a:ext cx="3474720" cy="1362456"/>
          </a:xfrm>
          <a:prstGeom prst="rect">
            <a:avLst/>
          </a:prstGeom>
          <a:noFill/>
          <a:ln/>
        </p:spPr>
        <p:txBody>
          <a:bodyPr wrap="square" lIns="0" tIns="0" rIns="0" bIns="0" rtlCol="0" anchor="ctr"/>
          <a:lstStyle/>
          <a:p>
            <a:pPr marL="0" indent="0" algn="l">
              <a:lnSpc>
                <a:spcPts val="2670"/>
              </a:lnSpc>
              <a:buNone/>
            </a:pPr>
            <a:r>
              <a:rPr lang="en-US" sz="17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Illustrate method overriding, where each subclass modifies inherited behavior to suit its unique role.</a:t>
            </a:r>
            <a:endParaRPr lang="en-US" sz="1780" dirty="0"/>
          </a:p>
        </p:txBody>
      </p:sp>
      <p:sp>
        <p:nvSpPr>
          <p:cNvPr id="12" name="Text 4"/>
          <p:cNvSpPr/>
          <p:nvPr/>
        </p:nvSpPr>
        <p:spPr>
          <a:xfrm>
            <a:off x="5175504" y="3200400"/>
            <a:ext cx="3474720" cy="1362456"/>
          </a:xfrm>
          <a:prstGeom prst="rect">
            <a:avLst/>
          </a:prstGeom>
          <a:noFill/>
          <a:ln/>
        </p:spPr>
        <p:txBody>
          <a:bodyPr wrap="square" lIns="0" tIns="0" rIns="0" bIns="0" rtlCol="0" anchor="ctr"/>
          <a:lstStyle/>
          <a:p>
            <a:pPr marL="0" indent="0" algn="l">
              <a:lnSpc>
                <a:spcPts val="2670"/>
              </a:lnSpc>
              <a:buNone/>
            </a:pPr>
            <a:r>
              <a:rPr lang="en-US" sz="17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Show how multiple subclasses can inherit properties and behaviors from a single base class.</a:t>
            </a:r>
            <a:endParaRPr lang="en-US" sz="1780" dirty="0"/>
          </a:p>
        </p:txBody>
      </p:sp>
      <p:sp>
        <p:nvSpPr>
          <p:cNvPr id="13" name="Text 5"/>
          <p:cNvSpPr/>
          <p:nvPr/>
        </p:nvSpPr>
        <p:spPr>
          <a:xfrm>
            <a:off x="5175504" y="5239512"/>
            <a:ext cx="3474720" cy="1024128"/>
          </a:xfrm>
          <a:prstGeom prst="rect">
            <a:avLst/>
          </a:prstGeom>
          <a:noFill/>
          <a:ln/>
        </p:spPr>
        <p:txBody>
          <a:bodyPr wrap="square" lIns="0" tIns="0" rIns="0" bIns="0" rtlCol="0" anchor="ctr"/>
          <a:lstStyle/>
          <a:p>
            <a:pPr marL="0" indent="0" algn="l">
              <a:lnSpc>
                <a:spcPts val="2670"/>
              </a:lnSpc>
              <a:buNone/>
            </a:pPr>
            <a:r>
              <a:rPr lang="en-US" sz="17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Provide an interactive, fun, and text-based role-playing game environment.</a:t>
            </a:r>
            <a:endParaRPr lang="en-US" sz="1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86384" y="1508760"/>
            <a:ext cx="6473952" cy="1883664"/>
          </a:xfrm>
          <a:prstGeom prst="rect">
            <a:avLst/>
          </a:prstGeom>
        </p:spPr>
      </p:pic>
      <p:pic>
        <p:nvPicPr>
          <p:cNvPr id="5" name="Image 3" descr="preencoded.png"/>
          <p:cNvPicPr>
            <a:picLocks noChangeAspect="1"/>
          </p:cNvPicPr>
          <p:nvPr/>
        </p:nvPicPr>
        <p:blipFill>
          <a:blip r:embed="rId5"/>
          <a:stretch>
            <a:fillRect/>
          </a:stretch>
        </p:blipFill>
        <p:spPr>
          <a:xfrm>
            <a:off x="786384" y="3520440"/>
            <a:ext cx="6473952" cy="1883664"/>
          </a:xfrm>
          <a:prstGeom prst="rect">
            <a:avLst/>
          </a:prstGeom>
        </p:spPr>
      </p:pic>
      <p:pic>
        <p:nvPicPr>
          <p:cNvPr id="6" name="Image 4" descr="preencoded.png"/>
          <p:cNvPicPr>
            <a:picLocks noChangeAspect="1"/>
          </p:cNvPicPr>
          <p:nvPr/>
        </p:nvPicPr>
        <p:blipFill>
          <a:blip r:embed="rId5"/>
          <a:stretch>
            <a:fillRect/>
          </a:stretch>
        </p:blipFill>
        <p:spPr>
          <a:xfrm>
            <a:off x="786384" y="5522976"/>
            <a:ext cx="6473952" cy="1883664"/>
          </a:xfrm>
          <a:prstGeom prst="rect">
            <a:avLst/>
          </a:prstGeom>
        </p:spPr>
      </p:pic>
      <p:pic>
        <p:nvPicPr>
          <p:cNvPr id="7" name="Image 5" descr="preencoded.png"/>
          <p:cNvPicPr>
            <a:picLocks noChangeAspect="1"/>
          </p:cNvPicPr>
          <p:nvPr/>
        </p:nvPicPr>
        <p:blipFill>
          <a:blip r:embed="rId6"/>
          <a:stretch>
            <a:fillRect/>
          </a:stretch>
        </p:blipFill>
        <p:spPr>
          <a:xfrm>
            <a:off x="7388352" y="1508760"/>
            <a:ext cx="6473952" cy="1883664"/>
          </a:xfrm>
          <a:prstGeom prst="rect">
            <a:avLst/>
          </a:prstGeom>
        </p:spPr>
      </p:pic>
      <p:pic>
        <p:nvPicPr>
          <p:cNvPr id="8" name="Image 6" descr="preencoded.png"/>
          <p:cNvPicPr>
            <a:picLocks noChangeAspect="1"/>
          </p:cNvPicPr>
          <p:nvPr/>
        </p:nvPicPr>
        <p:blipFill>
          <a:blip r:embed="rId6"/>
          <a:stretch>
            <a:fillRect/>
          </a:stretch>
        </p:blipFill>
        <p:spPr>
          <a:xfrm>
            <a:off x="7388352" y="3520440"/>
            <a:ext cx="6473952" cy="1883664"/>
          </a:xfrm>
          <a:prstGeom prst="rect">
            <a:avLst/>
          </a:prstGeom>
        </p:spPr>
      </p:pic>
      <p:pic>
        <p:nvPicPr>
          <p:cNvPr id="9" name="Image 7" descr="preencoded.png"/>
          <p:cNvPicPr>
            <a:picLocks noChangeAspect="1"/>
          </p:cNvPicPr>
          <p:nvPr/>
        </p:nvPicPr>
        <p:blipFill>
          <a:blip r:embed="rId7"/>
          <a:stretch>
            <a:fillRect/>
          </a:stretch>
        </p:blipFill>
        <p:spPr>
          <a:xfrm>
            <a:off x="969264" y="2331720"/>
            <a:ext cx="6099048" cy="868680"/>
          </a:xfrm>
          <a:prstGeom prst="rect">
            <a:avLst/>
          </a:prstGeom>
        </p:spPr>
      </p:pic>
      <p:pic>
        <p:nvPicPr>
          <p:cNvPr id="10" name="Image 8" descr="preencoded.png"/>
          <p:cNvPicPr>
            <a:picLocks noChangeAspect="1"/>
          </p:cNvPicPr>
          <p:nvPr/>
        </p:nvPicPr>
        <p:blipFill>
          <a:blip r:embed="rId7"/>
          <a:stretch>
            <a:fillRect/>
          </a:stretch>
        </p:blipFill>
        <p:spPr>
          <a:xfrm>
            <a:off x="969264" y="4343400"/>
            <a:ext cx="6099048" cy="868680"/>
          </a:xfrm>
          <a:prstGeom prst="rect">
            <a:avLst/>
          </a:prstGeom>
        </p:spPr>
      </p:pic>
      <p:pic>
        <p:nvPicPr>
          <p:cNvPr id="11" name="Image 9" descr="preencoded.png"/>
          <p:cNvPicPr>
            <a:picLocks noChangeAspect="1"/>
          </p:cNvPicPr>
          <p:nvPr/>
        </p:nvPicPr>
        <p:blipFill>
          <a:blip r:embed="rId7"/>
          <a:stretch>
            <a:fillRect/>
          </a:stretch>
        </p:blipFill>
        <p:spPr>
          <a:xfrm>
            <a:off x="969264" y="6345936"/>
            <a:ext cx="6099048" cy="868680"/>
          </a:xfrm>
          <a:prstGeom prst="rect">
            <a:avLst/>
          </a:prstGeom>
        </p:spPr>
      </p:pic>
      <p:pic>
        <p:nvPicPr>
          <p:cNvPr id="12" name="Image 10" descr="preencoded.png"/>
          <p:cNvPicPr>
            <a:picLocks noChangeAspect="1"/>
          </p:cNvPicPr>
          <p:nvPr/>
        </p:nvPicPr>
        <p:blipFill>
          <a:blip r:embed="rId7"/>
          <a:stretch>
            <a:fillRect/>
          </a:stretch>
        </p:blipFill>
        <p:spPr>
          <a:xfrm>
            <a:off x="7571232" y="2331720"/>
            <a:ext cx="6099048" cy="868680"/>
          </a:xfrm>
          <a:prstGeom prst="rect">
            <a:avLst/>
          </a:prstGeom>
        </p:spPr>
      </p:pic>
      <p:pic>
        <p:nvPicPr>
          <p:cNvPr id="13" name="Image 11" descr="preencoded.png"/>
          <p:cNvPicPr>
            <a:picLocks noChangeAspect="1"/>
          </p:cNvPicPr>
          <p:nvPr/>
        </p:nvPicPr>
        <p:blipFill>
          <a:blip r:embed="rId7"/>
          <a:stretch>
            <a:fillRect/>
          </a:stretch>
        </p:blipFill>
        <p:spPr>
          <a:xfrm>
            <a:off x="7571232" y="4343400"/>
            <a:ext cx="6099048" cy="868680"/>
          </a:xfrm>
          <a:prstGeom prst="rect">
            <a:avLst/>
          </a:prstGeom>
        </p:spPr>
      </p:pic>
      <p:pic>
        <p:nvPicPr>
          <p:cNvPr id="14" name="Image 12" descr="preencoded.png"/>
          <p:cNvPicPr>
            <a:picLocks noChangeAspect="1"/>
          </p:cNvPicPr>
          <p:nvPr/>
        </p:nvPicPr>
        <p:blipFill>
          <a:blip r:embed="rId8"/>
          <a:stretch>
            <a:fillRect/>
          </a:stretch>
        </p:blipFill>
        <p:spPr>
          <a:xfrm>
            <a:off x="969264" y="1700784"/>
            <a:ext cx="484632" cy="484632"/>
          </a:xfrm>
          <a:prstGeom prst="rect">
            <a:avLst/>
          </a:prstGeom>
        </p:spPr>
      </p:pic>
      <p:pic>
        <p:nvPicPr>
          <p:cNvPr id="15" name="Image 13" descr="preencoded.png"/>
          <p:cNvPicPr>
            <a:picLocks noChangeAspect="1"/>
          </p:cNvPicPr>
          <p:nvPr/>
        </p:nvPicPr>
        <p:blipFill>
          <a:blip r:embed="rId8"/>
          <a:stretch>
            <a:fillRect/>
          </a:stretch>
        </p:blipFill>
        <p:spPr>
          <a:xfrm>
            <a:off x="969264" y="3703320"/>
            <a:ext cx="484632" cy="484632"/>
          </a:xfrm>
          <a:prstGeom prst="rect">
            <a:avLst/>
          </a:prstGeom>
        </p:spPr>
      </p:pic>
      <p:pic>
        <p:nvPicPr>
          <p:cNvPr id="16" name="Image 14" descr="preencoded.png"/>
          <p:cNvPicPr>
            <a:picLocks noChangeAspect="1"/>
          </p:cNvPicPr>
          <p:nvPr/>
        </p:nvPicPr>
        <p:blipFill>
          <a:blip r:embed="rId8"/>
          <a:stretch>
            <a:fillRect/>
          </a:stretch>
        </p:blipFill>
        <p:spPr>
          <a:xfrm>
            <a:off x="969264" y="5715000"/>
            <a:ext cx="484632" cy="484632"/>
          </a:xfrm>
          <a:prstGeom prst="rect">
            <a:avLst/>
          </a:prstGeom>
        </p:spPr>
      </p:pic>
      <p:pic>
        <p:nvPicPr>
          <p:cNvPr id="17" name="Image 15" descr="preencoded.png"/>
          <p:cNvPicPr>
            <a:picLocks noChangeAspect="1"/>
          </p:cNvPicPr>
          <p:nvPr/>
        </p:nvPicPr>
        <p:blipFill>
          <a:blip r:embed="rId8"/>
          <a:stretch>
            <a:fillRect/>
          </a:stretch>
        </p:blipFill>
        <p:spPr>
          <a:xfrm>
            <a:off x="7571232" y="1700784"/>
            <a:ext cx="484632" cy="484632"/>
          </a:xfrm>
          <a:prstGeom prst="rect">
            <a:avLst/>
          </a:prstGeom>
        </p:spPr>
      </p:pic>
      <p:pic>
        <p:nvPicPr>
          <p:cNvPr id="18" name="Image 16" descr="preencoded.png"/>
          <p:cNvPicPr>
            <a:picLocks noChangeAspect="1"/>
          </p:cNvPicPr>
          <p:nvPr/>
        </p:nvPicPr>
        <p:blipFill>
          <a:blip r:embed="rId8"/>
          <a:stretch>
            <a:fillRect/>
          </a:stretch>
        </p:blipFill>
        <p:spPr>
          <a:xfrm>
            <a:off x="7571232" y="3703320"/>
            <a:ext cx="484632" cy="484632"/>
          </a:xfrm>
          <a:prstGeom prst="rect">
            <a:avLst/>
          </a:prstGeom>
        </p:spPr>
      </p:pic>
      <p:sp>
        <p:nvSpPr>
          <p:cNvPr id="19" name="Text 0"/>
          <p:cNvSpPr/>
          <p:nvPr/>
        </p:nvSpPr>
        <p:spPr>
          <a:xfrm>
            <a:off x="795528" y="850392"/>
            <a:ext cx="13048488" cy="502920"/>
          </a:xfrm>
          <a:prstGeom prst="rect">
            <a:avLst/>
          </a:prstGeom>
          <a:noFill/>
          <a:ln/>
        </p:spPr>
        <p:txBody>
          <a:bodyPr wrap="none" lIns="0" tIns="0" rIns="0" bIns="0" rtlCol="0" anchor="ctr"/>
          <a:lstStyle/>
          <a:p>
            <a:pPr marL="0" indent="0" algn="l">
              <a:lnSpc>
                <a:spcPts val="3900"/>
              </a:lnSpc>
              <a:buNone/>
            </a:pPr>
            <a:r>
              <a:rPr lang="en-US" sz="312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3. Key Concepts</a:t>
            </a:r>
            <a:endParaRPr lang="en-US" sz="3120" dirty="0"/>
          </a:p>
        </p:txBody>
      </p:sp>
      <p:sp>
        <p:nvSpPr>
          <p:cNvPr id="20" name="Text 1"/>
          <p:cNvSpPr/>
          <p:nvPr/>
        </p:nvSpPr>
        <p:spPr>
          <a:xfrm>
            <a:off x="1152144" y="1783080"/>
            <a:ext cx="128016" cy="320040"/>
          </a:xfrm>
          <a:prstGeom prst="rect">
            <a:avLst/>
          </a:prstGeom>
          <a:noFill/>
          <a:ln/>
        </p:spPr>
        <p:txBody>
          <a:bodyPr wrap="none" lIns="0" tIns="0" rIns="0" bIns="0" rtlCol="0" anchor="ctr"/>
          <a:lstStyle/>
          <a:p>
            <a:pPr marL="0" indent="0" algn="l">
              <a:lnSpc>
                <a:spcPts val="2020"/>
              </a:lnSpc>
              <a:buNone/>
            </a:pPr>
            <a:r>
              <a:rPr lang="en-US" sz="16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1</a:t>
            </a:r>
            <a:endParaRPr lang="en-US" sz="1680" dirty="0"/>
          </a:p>
        </p:txBody>
      </p:sp>
      <p:sp>
        <p:nvSpPr>
          <p:cNvPr id="21" name="Text 2"/>
          <p:cNvSpPr/>
          <p:nvPr/>
        </p:nvSpPr>
        <p:spPr>
          <a:xfrm>
            <a:off x="969264" y="2331720"/>
            <a:ext cx="6099048" cy="256032"/>
          </a:xfrm>
          <a:prstGeom prst="rect">
            <a:avLst/>
          </a:prstGeom>
          <a:noFill/>
          <a:ln/>
        </p:spPr>
        <p:txBody>
          <a:bodyPr wrap="none" lIns="0" tIns="0" rIns="0" bIns="0" rtlCol="0" anchor="ctr"/>
          <a:lstStyle/>
          <a:p>
            <a:pPr marL="0" indent="0" algn="l">
              <a:lnSpc>
                <a:spcPts val="1950"/>
              </a:lnSpc>
              <a:buNone/>
            </a:pPr>
            <a:r>
              <a:rPr lang="en-US" sz="156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Inheritance</a:t>
            </a:r>
            <a:endParaRPr lang="en-US" sz="1560" dirty="0"/>
          </a:p>
        </p:txBody>
      </p:sp>
      <p:sp>
        <p:nvSpPr>
          <p:cNvPr id="22" name="Text 3"/>
          <p:cNvSpPr/>
          <p:nvPr/>
        </p:nvSpPr>
        <p:spPr>
          <a:xfrm>
            <a:off x="969264" y="2724912"/>
            <a:ext cx="6099048" cy="246888"/>
          </a:xfrm>
          <a:prstGeom prst="rect">
            <a:avLst/>
          </a:prstGeom>
          <a:noFill/>
          <a:ln/>
        </p:spPr>
        <p:txBody>
          <a:bodyPr wrap="none" lIns="0" tIns="0" rIns="0" bIns="0" rtlCol="0" anchor="ctr"/>
          <a:lstStyle/>
          <a:p>
            <a:pPr marL="0" indent="0" algn="l">
              <a:lnSpc>
                <a:spcPts val="1870"/>
              </a:lnSpc>
              <a:buNone/>
            </a:pPr>
            <a:r>
              <a:rPr lang="en-US" sz="125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All hero types inherit from the base class Character.</a:t>
            </a:r>
            <a:endParaRPr lang="en-US" sz="1250" dirty="0"/>
          </a:p>
        </p:txBody>
      </p:sp>
      <p:sp>
        <p:nvSpPr>
          <p:cNvPr id="23" name="Text 4"/>
          <p:cNvSpPr/>
          <p:nvPr/>
        </p:nvSpPr>
        <p:spPr>
          <a:xfrm>
            <a:off x="1152144" y="3785616"/>
            <a:ext cx="128016" cy="320040"/>
          </a:xfrm>
          <a:prstGeom prst="rect">
            <a:avLst/>
          </a:prstGeom>
          <a:noFill/>
          <a:ln/>
        </p:spPr>
        <p:txBody>
          <a:bodyPr wrap="none" lIns="0" tIns="0" rIns="0" bIns="0" rtlCol="0" anchor="ctr"/>
          <a:lstStyle/>
          <a:p>
            <a:pPr marL="0" indent="0" algn="l">
              <a:lnSpc>
                <a:spcPts val="2020"/>
              </a:lnSpc>
              <a:buNone/>
            </a:pPr>
            <a:r>
              <a:rPr lang="en-US" sz="16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3</a:t>
            </a:r>
            <a:endParaRPr lang="en-US" sz="1680" dirty="0"/>
          </a:p>
        </p:txBody>
      </p:sp>
      <p:sp>
        <p:nvSpPr>
          <p:cNvPr id="24" name="Text 5"/>
          <p:cNvSpPr/>
          <p:nvPr/>
        </p:nvSpPr>
        <p:spPr>
          <a:xfrm>
            <a:off x="969264" y="4343400"/>
            <a:ext cx="6099048" cy="256032"/>
          </a:xfrm>
          <a:prstGeom prst="rect">
            <a:avLst/>
          </a:prstGeom>
          <a:noFill/>
          <a:ln/>
        </p:spPr>
        <p:txBody>
          <a:bodyPr wrap="none" lIns="0" tIns="0" rIns="0" bIns="0" rtlCol="0" anchor="ctr"/>
          <a:lstStyle/>
          <a:p>
            <a:pPr marL="0" indent="0" algn="l">
              <a:lnSpc>
                <a:spcPts val="1950"/>
              </a:lnSpc>
              <a:buNone/>
            </a:pPr>
            <a:r>
              <a:rPr lang="en-US" sz="156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Abstraction</a:t>
            </a:r>
            <a:endParaRPr lang="en-US" sz="1560" dirty="0"/>
          </a:p>
        </p:txBody>
      </p:sp>
      <p:sp>
        <p:nvSpPr>
          <p:cNvPr id="25" name="Text 6"/>
          <p:cNvSpPr/>
          <p:nvPr/>
        </p:nvSpPr>
        <p:spPr>
          <a:xfrm>
            <a:off x="969264" y="4736592"/>
            <a:ext cx="6099048" cy="484632"/>
          </a:xfrm>
          <a:prstGeom prst="rect">
            <a:avLst/>
          </a:prstGeom>
          <a:noFill/>
          <a:ln/>
        </p:spPr>
        <p:txBody>
          <a:bodyPr wrap="square" lIns="0" tIns="0" rIns="0" bIns="0" rtlCol="0" anchor="ctr"/>
          <a:lstStyle/>
          <a:p>
            <a:pPr marL="0" indent="0" algn="l">
              <a:lnSpc>
                <a:spcPts val="1870"/>
              </a:lnSpc>
              <a:buNone/>
            </a:pPr>
            <a:r>
              <a:rPr lang="en-US" sz="125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The base class Character is abstract and defines common templates for all heroes.</a:t>
            </a:r>
            <a:endParaRPr lang="en-US" sz="1250" dirty="0"/>
          </a:p>
        </p:txBody>
      </p:sp>
      <p:sp>
        <p:nvSpPr>
          <p:cNvPr id="26" name="Text 7"/>
          <p:cNvSpPr/>
          <p:nvPr/>
        </p:nvSpPr>
        <p:spPr>
          <a:xfrm>
            <a:off x="1152144" y="5797296"/>
            <a:ext cx="128016" cy="320040"/>
          </a:xfrm>
          <a:prstGeom prst="rect">
            <a:avLst/>
          </a:prstGeom>
          <a:noFill/>
          <a:ln/>
        </p:spPr>
        <p:txBody>
          <a:bodyPr wrap="none" lIns="0" tIns="0" rIns="0" bIns="0" rtlCol="0" anchor="ctr"/>
          <a:lstStyle/>
          <a:p>
            <a:pPr marL="0" indent="0" algn="l">
              <a:lnSpc>
                <a:spcPts val="2020"/>
              </a:lnSpc>
              <a:buNone/>
            </a:pPr>
            <a:r>
              <a:rPr lang="en-US" sz="16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5</a:t>
            </a:r>
            <a:endParaRPr lang="en-US" sz="1680" dirty="0"/>
          </a:p>
        </p:txBody>
      </p:sp>
      <p:sp>
        <p:nvSpPr>
          <p:cNvPr id="27" name="Text 8"/>
          <p:cNvSpPr/>
          <p:nvPr/>
        </p:nvSpPr>
        <p:spPr>
          <a:xfrm>
            <a:off x="969264" y="6345936"/>
            <a:ext cx="6099048" cy="256032"/>
          </a:xfrm>
          <a:prstGeom prst="rect">
            <a:avLst/>
          </a:prstGeom>
          <a:noFill/>
          <a:ln/>
        </p:spPr>
        <p:txBody>
          <a:bodyPr wrap="none" lIns="0" tIns="0" rIns="0" bIns="0" rtlCol="0" anchor="ctr"/>
          <a:lstStyle/>
          <a:p>
            <a:pPr marL="0" indent="0" algn="l">
              <a:lnSpc>
                <a:spcPts val="1950"/>
              </a:lnSpc>
              <a:buNone/>
            </a:pPr>
            <a:r>
              <a:rPr lang="en-US" sz="156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User Interaction</a:t>
            </a:r>
            <a:endParaRPr lang="en-US" sz="1560" dirty="0"/>
          </a:p>
        </p:txBody>
      </p:sp>
      <p:sp>
        <p:nvSpPr>
          <p:cNvPr id="28" name="Text 9"/>
          <p:cNvSpPr/>
          <p:nvPr/>
        </p:nvSpPr>
        <p:spPr>
          <a:xfrm>
            <a:off x="969264" y="6739128"/>
            <a:ext cx="6099048" cy="484632"/>
          </a:xfrm>
          <a:prstGeom prst="rect">
            <a:avLst/>
          </a:prstGeom>
          <a:noFill/>
          <a:ln/>
        </p:spPr>
        <p:txBody>
          <a:bodyPr wrap="square" lIns="0" tIns="0" rIns="0" bIns="0" rtlCol="0" anchor="ctr"/>
          <a:lstStyle/>
          <a:p>
            <a:pPr marL="0" indent="0" algn="l">
              <a:lnSpc>
                <a:spcPts val="1870"/>
              </a:lnSpc>
              <a:buNone/>
            </a:pPr>
            <a:r>
              <a:rPr lang="en-US" sz="125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Scanner class allows players to choose heroes, enter names, and continue or quit rounds.</a:t>
            </a:r>
            <a:endParaRPr lang="en-US" sz="1250" dirty="0"/>
          </a:p>
        </p:txBody>
      </p:sp>
      <p:sp>
        <p:nvSpPr>
          <p:cNvPr id="29" name="Text 10"/>
          <p:cNvSpPr/>
          <p:nvPr/>
        </p:nvSpPr>
        <p:spPr>
          <a:xfrm>
            <a:off x="7571232" y="2331720"/>
            <a:ext cx="6099048" cy="256032"/>
          </a:xfrm>
          <a:prstGeom prst="rect">
            <a:avLst/>
          </a:prstGeom>
          <a:noFill/>
          <a:ln/>
        </p:spPr>
        <p:txBody>
          <a:bodyPr wrap="none" lIns="0" tIns="0" rIns="0" bIns="0" rtlCol="0" anchor="ctr"/>
          <a:lstStyle/>
          <a:p>
            <a:pPr marL="0" indent="0" algn="l">
              <a:lnSpc>
                <a:spcPts val="1950"/>
              </a:lnSpc>
              <a:buNone/>
            </a:pPr>
            <a:r>
              <a:rPr lang="en-US" sz="156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Method Overriding</a:t>
            </a:r>
            <a:endParaRPr lang="en-US" sz="1560" dirty="0"/>
          </a:p>
        </p:txBody>
      </p:sp>
      <p:sp>
        <p:nvSpPr>
          <p:cNvPr id="30" name="Text 11"/>
          <p:cNvSpPr/>
          <p:nvPr/>
        </p:nvSpPr>
        <p:spPr>
          <a:xfrm>
            <a:off x="7754112" y="1783080"/>
            <a:ext cx="128016" cy="320040"/>
          </a:xfrm>
          <a:prstGeom prst="rect">
            <a:avLst/>
          </a:prstGeom>
          <a:noFill/>
          <a:ln/>
        </p:spPr>
        <p:txBody>
          <a:bodyPr wrap="none" lIns="0" tIns="0" rIns="0" bIns="0" rtlCol="0" anchor="ctr"/>
          <a:lstStyle/>
          <a:p>
            <a:pPr marL="0" indent="0" algn="l">
              <a:lnSpc>
                <a:spcPts val="2020"/>
              </a:lnSpc>
              <a:buNone/>
            </a:pPr>
            <a:r>
              <a:rPr lang="en-US" sz="16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2</a:t>
            </a:r>
            <a:endParaRPr lang="en-US" sz="1680" dirty="0"/>
          </a:p>
        </p:txBody>
      </p:sp>
      <p:sp>
        <p:nvSpPr>
          <p:cNvPr id="31" name="Text 12"/>
          <p:cNvSpPr/>
          <p:nvPr/>
        </p:nvSpPr>
        <p:spPr>
          <a:xfrm>
            <a:off x="7571232" y="2724912"/>
            <a:ext cx="6099048" cy="484632"/>
          </a:xfrm>
          <a:prstGeom prst="rect">
            <a:avLst/>
          </a:prstGeom>
          <a:noFill/>
          <a:ln/>
        </p:spPr>
        <p:txBody>
          <a:bodyPr wrap="square" lIns="0" tIns="0" rIns="0" bIns="0" rtlCol="0" anchor="ctr"/>
          <a:lstStyle/>
          <a:p>
            <a:pPr marL="0" indent="0" algn="l">
              <a:lnSpc>
                <a:spcPts val="1870"/>
              </a:lnSpc>
              <a:buNone/>
            </a:pPr>
            <a:r>
              <a:rPr lang="en-US" sz="125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Subclasses provide their own implementation of attack() and defend() methods.</a:t>
            </a:r>
            <a:endParaRPr lang="en-US" sz="1250" dirty="0"/>
          </a:p>
        </p:txBody>
      </p:sp>
      <p:sp>
        <p:nvSpPr>
          <p:cNvPr id="32" name="Text 13"/>
          <p:cNvSpPr/>
          <p:nvPr/>
        </p:nvSpPr>
        <p:spPr>
          <a:xfrm>
            <a:off x="7754112" y="3785616"/>
            <a:ext cx="128016" cy="320040"/>
          </a:xfrm>
          <a:prstGeom prst="rect">
            <a:avLst/>
          </a:prstGeom>
          <a:noFill/>
          <a:ln/>
        </p:spPr>
        <p:txBody>
          <a:bodyPr wrap="none" lIns="0" tIns="0" rIns="0" bIns="0" rtlCol="0" anchor="ctr"/>
          <a:lstStyle/>
          <a:p>
            <a:pPr marL="0" indent="0" algn="l">
              <a:lnSpc>
                <a:spcPts val="2020"/>
              </a:lnSpc>
              <a:buNone/>
            </a:pPr>
            <a:r>
              <a:rPr lang="en-US" sz="16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4</a:t>
            </a:r>
            <a:endParaRPr lang="en-US" sz="1680" dirty="0"/>
          </a:p>
        </p:txBody>
      </p:sp>
      <p:sp>
        <p:nvSpPr>
          <p:cNvPr id="33" name="Text 14"/>
          <p:cNvSpPr/>
          <p:nvPr/>
        </p:nvSpPr>
        <p:spPr>
          <a:xfrm>
            <a:off x="7571232" y="4343400"/>
            <a:ext cx="6099048" cy="256032"/>
          </a:xfrm>
          <a:prstGeom prst="rect">
            <a:avLst/>
          </a:prstGeom>
          <a:noFill/>
          <a:ln/>
        </p:spPr>
        <p:txBody>
          <a:bodyPr wrap="none" lIns="0" tIns="0" rIns="0" bIns="0" rtlCol="0" anchor="ctr"/>
          <a:lstStyle/>
          <a:p>
            <a:pPr marL="0" indent="0" algn="l">
              <a:lnSpc>
                <a:spcPts val="1950"/>
              </a:lnSpc>
              <a:buNone/>
            </a:pPr>
            <a:r>
              <a:rPr lang="en-US" sz="156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Randomization</a:t>
            </a:r>
            <a:endParaRPr lang="en-US" sz="1560" dirty="0"/>
          </a:p>
        </p:txBody>
      </p:sp>
      <p:sp>
        <p:nvSpPr>
          <p:cNvPr id="34" name="Text 15"/>
          <p:cNvSpPr/>
          <p:nvPr/>
        </p:nvSpPr>
        <p:spPr>
          <a:xfrm>
            <a:off x="7571232" y="4736592"/>
            <a:ext cx="6099048" cy="246888"/>
          </a:xfrm>
          <a:prstGeom prst="rect">
            <a:avLst/>
          </a:prstGeom>
          <a:noFill/>
          <a:ln/>
        </p:spPr>
        <p:txBody>
          <a:bodyPr wrap="none" lIns="0" tIns="0" rIns="0" bIns="0" rtlCol="0" anchor="ctr"/>
          <a:lstStyle/>
          <a:p>
            <a:pPr marL="0" indent="0" algn="l">
              <a:lnSpc>
                <a:spcPts val="1870"/>
              </a:lnSpc>
              <a:buNone/>
            </a:pPr>
            <a:r>
              <a:rPr lang="en-US" sz="125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 Random class is used to assign attack power, making battles unpredictable.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indent="0" algn="l">
              <a:lnSpc>
                <a:spcPts val="1470"/>
              </a:lnSpc>
              <a:buNone/>
            </a:pPr>
            <a:endParaRPr lang="en-US" sz="980" dirty="0"/>
          </a:p>
        </p:txBody>
      </p:sp>
      <p:sp>
        <p:nvSpPr>
          <p:cNvPr id="6" name="TextBox 5">
            <a:extLst>
              <a:ext uri="{FF2B5EF4-FFF2-40B4-BE49-F238E27FC236}">
                <a16:creationId xmlns:a16="http://schemas.microsoft.com/office/drawing/2014/main" id="{C61040AC-0347-217C-A670-C2C9C182B6D1}"/>
              </a:ext>
            </a:extLst>
          </p:cNvPr>
          <p:cNvSpPr txBox="1"/>
          <p:nvPr/>
        </p:nvSpPr>
        <p:spPr>
          <a:xfrm>
            <a:off x="795528" y="1639229"/>
            <a:ext cx="13048488" cy="6288966"/>
          </a:xfrm>
          <a:prstGeom prst="rect">
            <a:avLst/>
          </a:prstGeom>
          <a:noFill/>
        </p:spPr>
        <p:txBody>
          <a:bodyPr wrap="square" rtlCol="0">
            <a:spAutoFit/>
          </a:bodyP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import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java.util</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abstract class Character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name;</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Character(String name) { this.name = name;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abstract String attack();</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abstract String defend();</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Mythological Character Classes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class Arjuna extends Character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Arjuna(String n){ super(n);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attack(){ return name + " shoots arrows from Gandiva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defend(){ return name + " blocks with divine armor </a:t>
            </a:r>
            <a:r>
              <a:rPr lang="en-US" sz="1800" kern="0" dirty="0">
                <a:solidFill>
                  <a:schemeClr val="bg1"/>
                </a:solidFill>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class Karna extends Character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Karna(String n){ super(n);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attack(){ return name + " fires celestial arrows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defend(){ return name + " deflects attacks with Bhargava armor </a:t>
            </a:r>
            <a:r>
              <a:rPr lang="en-US" sz="1800" kern="0" dirty="0">
                <a:solidFill>
                  <a:schemeClr val="bg1"/>
                </a:solidFill>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class Krishna extends Character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Krishna(String n){ super(n);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attack(){ return name + " strikes with Sudarshan Chakra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defend(){ return name + " creates magical illusions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43217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class Bhima extends Character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Bhima(String n){ super(n);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attack(){ return name + " smashes silently with mace </a:t>
            </a:r>
            <a:r>
              <a:rPr lang="en-US" sz="1800" kern="0" dirty="0">
                <a:solidFill>
                  <a:schemeClr val="bg1"/>
                </a:solidFill>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defend(){ return name + " dodges using immense strength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class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Dhanvantari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extends Character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Dhanvantari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(String n){ super(n);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attack(){ return name + " emits divine healing light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defend(){ return name + " heals instantly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16704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class Hanuman extends Character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Hanuman(String n){ super(n);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attack(){ return name + " smashes with mighty strength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defend(){ return name + " absorbs all damage with divine power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Main Game Class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public class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BattleLegends</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public static void main(String[]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args</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Scanner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new Scanner(System.in);</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Random rand = new Random();</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860989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WELCOME TO </a:t>
            </a:r>
            <a:r>
              <a:rPr lang="en-US" sz="1800" kern="0" dirty="0">
                <a:solidFill>
                  <a:schemeClr val="bg1"/>
                </a:solidFill>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BATTLE LEGENDS – INDIAN MYTHOLOGY EDITION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("Enter your hero name: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sc.nextLine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heroTypes</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"Arjuna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"Karna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"Krishna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"Bhima </a:t>
            </a:r>
            <a:r>
              <a:rPr lang="en-US" sz="1800" kern="0" dirty="0">
                <a:solidFill>
                  <a:schemeClr val="bg1"/>
                </a:solidFill>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Dhanvantari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"Hanuman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14298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Player selects their own type</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nChoose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your hero type:");</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for (int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0;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&lt;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heroTypes.length</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((i+1) + "️</a:t>
            </a:r>
            <a:r>
              <a:rPr lang="en-US" sz="1800" kern="0" dirty="0">
                <a:solidFill>
                  <a:schemeClr val="bg1"/>
                </a:solidFill>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heroTypes</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0;</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while (true)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("Enter hero type (1–6):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if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sc.hasNextInt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sc.nextInt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if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&gt;= 1 &amp;&amp;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&lt;= 6) break;</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else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Invalid choice. Please enter a number between 1 and 6.");</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r>
              <a:rPr lang="en-US" sz="1800" kern="0" dirty="0">
                <a:solidFill>
                  <a:schemeClr val="bg1"/>
                </a:solidFill>
                <a:effectLst/>
                <a:latin typeface="Times New Roman" panose="02020603050405020304" pitchFamily="18" charset="0"/>
                <a:ea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1950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else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Invalid input. Please enter a number.");</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sc.next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clear invalid input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sc.nextLine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clear buffer</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Player selects enemy type</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nChoose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your enemy's type:");</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for (int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0;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&lt;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heroTypes.length</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((i+1) + "️</a:t>
            </a:r>
            <a:r>
              <a:rPr lang="en-US" sz="1800" kern="0" dirty="0">
                <a:solidFill>
                  <a:schemeClr val="bg1"/>
                </a:solidFill>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heroTypes</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0;</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4535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while (true)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("Enter enemy type (1–6):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if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sc.hasNextInt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sc.nextInt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if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&gt;= 1 &amp;&amp;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&lt;= 6) break;</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else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Invalid choice. Please enter a number between 1 and 6.");</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else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Invalid input. Please enter a number.");</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sc.next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clear invalid input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12822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sc.nextLine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clear buffer</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Assign character instances based on selections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Character player = switch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1 -&gt; new Arjuna(</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2 -&gt; new Karna(</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3 -&gt; new Krishna(</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4 -&gt; new Bhima(</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5 -&gt; new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Dhanvantari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6 -&gt; new Hanuman(</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default -&gt; throw new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IllegalStateException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("Unexpected value: "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09393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String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heroTypes</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- 1].split(" ")[0]; // e.g., "Arjuna" from "Arjuna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Character enemy = switch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1 -&gt; new Arjuna(</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2 -&gt; new Karna(</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3 -&gt; new Krishna(</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4 -&gt; new Bhima(</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5 -&gt; new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Dhanvantari</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case 6 -&gt; new Hanuman(</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default -&gt; throw new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IllegalStateException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("Unexpected value: "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enemyChoice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64275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nYou</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have chosen: "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player.getClass</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getSimpleName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 (" + player.name +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 "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enemy.getClass</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getSimpleName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 (" + enemy.name +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lang="en-US" sz="1800" kern="0" dirty="0">
                <a:solidFill>
                  <a:schemeClr val="bg1"/>
                </a:solidFill>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 player.name + " vs " + enemy.name + " </a:t>
            </a:r>
            <a:r>
              <a:rPr lang="en-US" sz="1800" kern="0" dirty="0">
                <a:solidFill>
                  <a:schemeClr val="bg1"/>
                </a:solidFill>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Let the mythological battle begin! </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pScore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0,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eScore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0;</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int round = 1;</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19163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14416"/>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while (round &lt;= 5)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lang="en-US" sz="1800" kern="0" dirty="0">
                <a:solidFill>
                  <a:schemeClr val="bg1"/>
                </a:solidFill>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Round " + round + " begins!");</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player.attack</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enemy.defend</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enemy.attack</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player.defend</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int p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rand.nextInt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(50) + 1;</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int e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rand.nextInt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(50) + 1;</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Power — " + player.name + ": " + p + " | " + enemy.name + ": " + e);</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57683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6553572"/>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if (p &gt; e)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 player.name + " wins this round!");</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pScore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else if (e &gt; p)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 enemy.name + " dominates this round!");</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eScore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else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Draw! Both heroes fought equally!");</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Do you want to continue to the next round? (y/n):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String choice =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sc.nextLine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().trim().</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toLowerCase</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if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choice.equals</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("y")) {</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lang="en-US" sz="18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You decided to quit early!");</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break;</a:t>
            </a:r>
            <a:endParaRPr lang="en-US"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39402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978408"/>
            <a:ext cx="13048488" cy="393192"/>
          </a:xfrm>
          <a:prstGeom prst="rect">
            <a:avLst/>
          </a:prstGeom>
          <a:noFill/>
          <a:ln/>
        </p:spPr>
        <p:txBody>
          <a:bodyPr wrap="none" lIns="0" tIns="0" rIns="0" bIns="0" rtlCol="0" anchor="ctr"/>
          <a:lstStyle/>
          <a:p>
            <a:pPr marL="0" indent="0" algn="l">
              <a:lnSpc>
                <a:spcPts val="3060"/>
              </a:lnSpc>
              <a:buNone/>
            </a:pPr>
            <a:r>
              <a:rPr lang="en-US" sz="245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4. Code for Battle Legends Game</a:t>
            </a:r>
            <a:endParaRPr lang="en-US" sz="2450" dirty="0"/>
          </a:p>
        </p:txBody>
      </p:sp>
      <p:sp>
        <p:nvSpPr>
          <p:cNvPr id="5" name="Text 1"/>
          <p:cNvSpPr/>
          <p:nvPr/>
        </p:nvSpPr>
        <p:spPr>
          <a:xfrm>
            <a:off x="795528" y="1508760"/>
            <a:ext cx="13048488" cy="5639172"/>
          </a:xfrm>
          <a:prstGeom prst="rect">
            <a:avLst/>
          </a:prstGeom>
          <a:noFill/>
          <a:ln/>
        </p:spPr>
        <p:txBody>
          <a:bodyPr wrap="square" lIns="0" tIns="0" rIns="0" bIns="0" rtlCol="0" anchor="ctr"/>
          <a:lstStyle/>
          <a:p>
            <a:pPr marL="0" marR="0" algn="just">
              <a:lnSpc>
                <a:spcPct val="115000"/>
              </a:lnSpc>
              <a:spcBef>
                <a:spcPts val="0"/>
              </a:spcBef>
              <a:spcAft>
                <a:spcPts val="800"/>
              </a:spcAft>
            </a:pPr>
            <a:r>
              <a:rPr lang="en-US" sz="18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round++;</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lang="en-US" sz="14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FINAL SCORE → " + player.name + ": " +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pScore</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 | " + enemy.name + ": " +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eScore</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if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pScore</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&gt;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eScore</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Victory! " + player.name + " becomes a mythological legend!");</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else if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eScore</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&gt;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pScore</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 + enemy.name + " defeats you. Train harder!");</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else</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It's a tie! Both heroes are equally powerful!");</a:t>
            </a:r>
            <a:r>
              <a:rPr lang="en-US" sz="1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algn="just">
              <a:lnSpc>
                <a:spcPct val="115000"/>
              </a:lnSpc>
              <a:spcBef>
                <a:spcPts val="0"/>
              </a:spcBef>
              <a:spcAft>
                <a:spcPts val="800"/>
              </a:spcAft>
            </a:pP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System.out.println</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a:t>
            </a:r>
            <a:r>
              <a:rPr lang="en-US" sz="1400" kern="0" dirty="0">
                <a:solidFill>
                  <a:schemeClr val="bg1"/>
                </a:solidFill>
                <a:effectLst/>
                <a:latin typeface="Segoe UI Emoji" panose="020B0502040204020203" pitchFamily="34" charset="0"/>
                <a:ea typeface="Times New Roman" panose="02020603050405020304" pitchFamily="18" charset="0"/>
                <a:cs typeface="Segoe UI Emoji" panose="020B0502040204020203" pitchFamily="34" charset="0"/>
              </a:rPr>
              <a:t>🍀</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Thanks for playing Battle Legends – Mythology Edition!");</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kern="0" dirty="0" err="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sc.close</a:t>
            </a: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pPr marL="0" marR="0" algn="just">
              <a:lnSpc>
                <a:spcPct val="115000"/>
              </a:lnSpc>
              <a:spcBef>
                <a:spcPts val="0"/>
              </a:spcBef>
              <a:spcAft>
                <a:spcPts val="800"/>
              </a:spcAft>
            </a:pPr>
            <a:r>
              <a:rPr lang="en-US" sz="1400" kern="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4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719784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126271" y="3331761"/>
            <a:ext cx="5679199" cy="3983439"/>
          </a:xfrm>
          <a:prstGeom prst="rect">
            <a:avLst/>
          </a:prstGeom>
        </p:spPr>
      </p:pic>
      <p:pic>
        <p:nvPicPr>
          <p:cNvPr id="4" name="Image 2" descr="preencoded.png"/>
          <p:cNvPicPr>
            <a:picLocks noChangeAspect="1"/>
          </p:cNvPicPr>
          <p:nvPr/>
        </p:nvPicPr>
        <p:blipFill>
          <a:blip r:embed="rId5"/>
          <a:stretch>
            <a:fillRect/>
          </a:stretch>
        </p:blipFill>
        <p:spPr>
          <a:xfrm>
            <a:off x="7315200" y="3331761"/>
            <a:ext cx="5335859" cy="3877740"/>
          </a:xfrm>
          <a:prstGeom prst="rect">
            <a:avLst/>
          </a:prstGeom>
        </p:spPr>
      </p:pic>
      <p:sp>
        <p:nvSpPr>
          <p:cNvPr id="5" name="Text 0"/>
          <p:cNvSpPr/>
          <p:nvPr/>
        </p:nvSpPr>
        <p:spPr>
          <a:xfrm>
            <a:off x="795528" y="2276856"/>
            <a:ext cx="13048488" cy="713232"/>
          </a:xfrm>
          <a:prstGeom prst="rect">
            <a:avLst/>
          </a:prstGeom>
          <a:noFill/>
          <a:ln/>
        </p:spPr>
        <p:txBody>
          <a:bodyPr wrap="none" lIns="0" tIns="0" rIns="0" bIns="0" rtlCol="0" anchor="ctr"/>
          <a:lstStyle/>
          <a:p>
            <a:pPr marL="0" indent="0" algn="l">
              <a:lnSpc>
                <a:spcPts val="5580"/>
              </a:lnSpc>
              <a:buNone/>
            </a:pPr>
            <a:r>
              <a:rPr lang="en-US" sz="446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5. Input and Output</a:t>
            </a:r>
            <a:endParaRPr lang="en-US" sz="44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1389888"/>
            <a:ext cx="13048488" cy="713232"/>
          </a:xfrm>
          <a:prstGeom prst="rect">
            <a:avLst/>
          </a:prstGeom>
          <a:noFill/>
          <a:ln/>
        </p:spPr>
        <p:txBody>
          <a:bodyPr wrap="none" lIns="0" tIns="0" rIns="0" bIns="0" rtlCol="0" anchor="ctr"/>
          <a:lstStyle/>
          <a:p>
            <a:pPr marL="0" indent="0" algn="l">
              <a:lnSpc>
                <a:spcPts val="5580"/>
              </a:lnSpc>
              <a:buNone/>
            </a:pPr>
            <a:r>
              <a:rPr lang="en-US" sz="446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6. Explanation of Code</a:t>
            </a:r>
            <a:endParaRPr lang="en-US" sz="4460" dirty="0"/>
          </a:p>
        </p:txBody>
      </p:sp>
      <p:sp>
        <p:nvSpPr>
          <p:cNvPr id="5" name="Text 1"/>
          <p:cNvSpPr/>
          <p:nvPr/>
        </p:nvSpPr>
        <p:spPr>
          <a:xfrm>
            <a:off x="795528" y="2350008"/>
            <a:ext cx="13048488" cy="1362456"/>
          </a:xfrm>
          <a:prstGeom prst="rect">
            <a:avLst/>
          </a:prstGeom>
          <a:noFill/>
          <a:ln/>
        </p:spPr>
        <p:txBody>
          <a:bodyPr wrap="square" lIns="0" tIns="0" rIns="0" bIns="0" rtlCol="0" anchor="ctr"/>
          <a:lstStyle/>
          <a:p>
            <a:pPr marL="0" indent="0" algn="l">
              <a:lnSpc>
                <a:spcPts val="2670"/>
              </a:lnSpc>
              <a:buNone/>
            </a:pPr>
            <a:r>
              <a:rPr lang="en-US" sz="17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Battle Legends – Indian Mythology Edition is a Java-based console game set in ancient Bharat, during an era when epic wars and divine beings shaped the fate of the world. Players step into the Kurukshetra Arena of Legends, choosing from six legendary heroes — Arjuna, Karna, Krishna, Bhima, Dhanvantari, and Hanuman — each embodying unique mythological abilities and virtues rooted in Dharma.</a:t>
            </a:r>
            <a:endParaRPr lang="en-US" sz="1780" dirty="0"/>
          </a:p>
        </p:txBody>
      </p:sp>
      <p:sp>
        <p:nvSpPr>
          <p:cNvPr id="6" name="Text 2"/>
          <p:cNvSpPr/>
          <p:nvPr/>
        </p:nvSpPr>
        <p:spPr>
          <a:xfrm>
            <a:off x="795528" y="3968496"/>
            <a:ext cx="13048488" cy="1362456"/>
          </a:xfrm>
          <a:prstGeom prst="rect">
            <a:avLst/>
          </a:prstGeom>
          <a:noFill/>
          <a:ln/>
        </p:spPr>
        <p:txBody>
          <a:bodyPr wrap="square" lIns="0" tIns="0" rIns="0" bIns="0" rtlCol="0" anchor="ctr"/>
          <a:lstStyle/>
          <a:p>
            <a:pPr marL="0" indent="0" algn="l">
              <a:lnSpc>
                <a:spcPts val="2670"/>
              </a:lnSpc>
              <a:buNone/>
            </a:pPr>
            <a:r>
              <a:rPr lang="en-US" sz="17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Every battle tests the hero’s strength, strategy, and divine blessings. Arjuna commands celestial archery, Karna wields invincible armor, Krishna uses divine wisdom and illusions, Bhima relies on brute strength, Dhanvantari heals with divine energy, and Hanuman channels unmatched devotion and power. The game’s combat system uses random power generation to simulate the unpredictability and divine intervention of mythological warfare.</a:t>
            </a:r>
            <a:endParaRPr lang="en-US" sz="1780" dirty="0"/>
          </a:p>
        </p:txBody>
      </p:sp>
      <p:sp>
        <p:nvSpPr>
          <p:cNvPr id="7" name="Text 3"/>
          <p:cNvSpPr/>
          <p:nvPr/>
        </p:nvSpPr>
        <p:spPr>
          <a:xfrm>
            <a:off x="795528" y="5577840"/>
            <a:ext cx="13048488" cy="1024128"/>
          </a:xfrm>
          <a:prstGeom prst="rect">
            <a:avLst/>
          </a:prstGeom>
          <a:noFill/>
          <a:ln/>
        </p:spPr>
        <p:txBody>
          <a:bodyPr wrap="square" lIns="0" tIns="0" rIns="0" bIns="0" rtlCol="0" anchor="ctr"/>
          <a:lstStyle/>
          <a:p>
            <a:pPr marL="0" indent="0" algn="l">
              <a:lnSpc>
                <a:spcPts val="2670"/>
              </a:lnSpc>
              <a:buNone/>
            </a:pPr>
            <a:r>
              <a:rPr lang="en-US" sz="1780" dirty="0">
                <a:solidFill>
                  <a:srgbClr val="FFFFFF"/>
                </a:solidFill>
                <a:latin typeface="Times New Roman" panose="02020603050405020304" pitchFamily="18" charset="0"/>
                <a:ea typeface="思源黑体-思源黑体-Medium" pitchFamily="34" charset="-122"/>
                <a:cs typeface="Times New Roman" panose="02020603050405020304" pitchFamily="18" charset="0"/>
              </a:rPr>
              <a:t>Through multiple rounds of combat, the player faces off against chosen or random opponents. Victory depends not only on raw strength but also on the will to protect righteousness. The ultimate goal is to triumph in the arena and become the Eternal Legend of Bharat, symbolizing the triumph of light, valor, and Dharma.</a:t>
            </a:r>
            <a:endParaRPr lang="en-US" sz="17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p:cNvSpPr/>
          <p:nvPr/>
        </p:nvSpPr>
        <p:spPr>
          <a:xfrm>
            <a:off x="795528" y="2276856"/>
            <a:ext cx="13048488" cy="713232"/>
          </a:xfrm>
          <a:prstGeom prst="rect">
            <a:avLst/>
          </a:prstGeom>
          <a:noFill/>
          <a:ln/>
        </p:spPr>
        <p:txBody>
          <a:bodyPr wrap="none" lIns="0" tIns="0" rIns="0" bIns="0" rtlCol="0" anchor="ctr"/>
          <a:lstStyle/>
          <a:p>
            <a:pPr marL="0" indent="0" algn="l">
              <a:lnSpc>
                <a:spcPts val="5580"/>
              </a:lnSpc>
              <a:buNone/>
            </a:pPr>
            <a:endParaRPr lang="en-US" sz="4460" dirty="0"/>
          </a:p>
        </p:txBody>
      </p:sp>
      <p:sp>
        <p:nvSpPr>
          <p:cNvPr id="8" name="TextBox 7">
            <a:extLst>
              <a:ext uri="{FF2B5EF4-FFF2-40B4-BE49-F238E27FC236}">
                <a16:creationId xmlns:a16="http://schemas.microsoft.com/office/drawing/2014/main" id="{22BFE9B5-E297-CB7B-259F-C5AEC954F927}"/>
              </a:ext>
            </a:extLst>
          </p:cNvPr>
          <p:cNvSpPr txBox="1"/>
          <p:nvPr/>
        </p:nvSpPr>
        <p:spPr>
          <a:xfrm>
            <a:off x="795528" y="278540"/>
            <a:ext cx="7315200" cy="691856"/>
          </a:xfrm>
          <a:prstGeom prst="rect">
            <a:avLst/>
          </a:prstGeom>
          <a:noFill/>
        </p:spPr>
        <p:txBody>
          <a:bodyPr wrap="square">
            <a:spAutoFit/>
          </a:bodyPr>
          <a:lstStyle/>
          <a:p>
            <a:pPr marL="0" indent="0" algn="l">
              <a:lnSpc>
                <a:spcPts val="5580"/>
              </a:lnSpc>
              <a:buNone/>
            </a:pPr>
            <a:r>
              <a:rPr lang="en-US" dirty="0">
                <a:solidFill>
                  <a:srgbClr val="ACAEF6"/>
                </a:solidFill>
                <a:latin typeface="Times New Roman" panose="02020603050405020304" pitchFamily="18" charset="0"/>
                <a:ea typeface="思源黑体-思源黑体-Medium" pitchFamily="34" charset="-122"/>
              </a:rPr>
              <a:t>6. Use of Inheritance and Polymorphism in the code</a:t>
            </a:r>
            <a:endParaRPr lang="en-US" sz="1800" dirty="0"/>
          </a:p>
        </p:txBody>
      </p:sp>
      <p:sp>
        <p:nvSpPr>
          <p:cNvPr id="9" name="TextBox 8">
            <a:extLst>
              <a:ext uri="{FF2B5EF4-FFF2-40B4-BE49-F238E27FC236}">
                <a16:creationId xmlns:a16="http://schemas.microsoft.com/office/drawing/2014/main" id="{CF425D76-89F3-409A-2F2E-C83A1C0D9B57}"/>
              </a:ext>
            </a:extLst>
          </p:cNvPr>
          <p:cNvSpPr txBox="1"/>
          <p:nvPr/>
        </p:nvSpPr>
        <p:spPr>
          <a:xfrm>
            <a:off x="925551" y="1226634"/>
            <a:ext cx="13191893" cy="646331"/>
          </a:xfrm>
          <a:prstGeom prst="rect">
            <a:avLst/>
          </a:prstGeom>
          <a:noFill/>
        </p:spPr>
        <p:txBody>
          <a:bodyPr wrap="square" rtlCol="0">
            <a:spAutoFit/>
          </a:bodyPr>
          <a:lstStyle/>
          <a:p>
            <a:endParaRPr lang="en-US" dirty="0"/>
          </a:p>
          <a:p>
            <a:endParaRPr lang="en-US" dirty="0"/>
          </a:p>
        </p:txBody>
      </p:sp>
      <p:sp>
        <p:nvSpPr>
          <p:cNvPr id="16" name="TextBox 15">
            <a:extLst>
              <a:ext uri="{FF2B5EF4-FFF2-40B4-BE49-F238E27FC236}">
                <a16:creationId xmlns:a16="http://schemas.microsoft.com/office/drawing/2014/main" id="{341C3822-8AC7-ACCA-F1E8-57B406D49564}"/>
              </a:ext>
            </a:extLst>
          </p:cNvPr>
          <p:cNvSpPr txBox="1"/>
          <p:nvPr/>
        </p:nvSpPr>
        <p:spPr>
          <a:xfrm>
            <a:off x="1014761" y="1226634"/>
            <a:ext cx="12820111" cy="6186309"/>
          </a:xfrm>
          <a:prstGeom prst="rect">
            <a:avLst/>
          </a:prstGeom>
          <a:noFill/>
        </p:spPr>
        <p:txBody>
          <a:bodyPr wrap="square" rtlCol="0">
            <a:spAutoFit/>
          </a:bodyPr>
          <a:lstStyle/>
          <a:p>
            <a:r>
              <a:rPr lang="en-US" b="1" dirty="0">
                <a:solidFill>
                  <a:schemeClr val="bg1"/>
                </a:solidFill>
              </a:rPr>
              <a:t>What is Inheritance?</a:t>
            </a:r>
          </a:p>
          <a:p>
            <a:r>
              <a:rPr lang="en-US" dirty="0">
                <a:solidFill>
                  <a:schemeClr val="bg1"/>
                </a:solidFill>
              </a:rPr>
              <a:t>Inheritance allows one class to </a:t>
            </a:r>
            <a:r>
              <a:rPr lang="en-US" b="1" dirty="0">
                <a:solidFill>
                  <a:schemeClr val="bg1"/>
                </a:solidFill>
              </a:rPr>
              <a:t>acquire features (variables and methods)</a:t>
            </a:r>
            <a:r>
              <a:rPr lang="en-US" dirty="0">
                <a:solidFill>
                  <a:schemeClr val="bg1"/>
                </a:solidFill>
              </a:rPr>
              <a:t> from another class.</a:t>
            </a:r>
            <a:br>
              <a:rPr lang="en-US" dirty="0">
                <a:solidFill>
                  <a:schemeClr val="bg1"/>
                </a:solidFill>
              </a:rPr>
            </a:br>
            <a:r>
              <a:rPr lang="en-US" dirty="0">
                <a:solidFill>
                  <a:schemeClr val="bg1"/>
                </a:solidFill>
              </a:rPr>
              <a:t>This helps in </a:t>
            </a:r>
            <a:r>
              <a:rPr lang="en-US" b="1" dirty="0">
                <a:solidFill>
                  <a:schemeClr val="bg1"/>
                </a:solidFill>
              </a:rPr>
              <a:t>code reusability</a:t>
            </a:r>
            <a:r>
              <a:rPr lang="en-US" dirty="0">
                <a:solidFill>
                  <a:schemeClr val="bg1"/>
                </a:solidFill>
              </a:rPr>
              <a:t> and </a:t>
            </a:r>
            <a:r>
              <a:rPr lang="en-US" b="1" dirty="0">
                <a:solidFill>
                  <a:schemeClr val="bg1"/>
                </a:solidFill>
              </a:rPr>
              <a:t>avoids rewriting</a:t>
            </a:r>
            <a:r>
              <a:rPr lang="en-US" dirty="0">
                <a:solidFill>
                  <a:schemeClr val="bg1"/>
                </a:solidFill>
              </a:rPr>
              <a:t> the same logic again.</a:t>
            </a:r>
          </a:p>
          <a:p>
            <a:r>
              <a:rPr lang="en-US" b="1" dirty="0">
                <a:solidFill>
                  <a:schemeClr val="bg1"/>
                </a:solidFill>
              </a:rPr>
              <a:t>How Inheritance is Used Here</a:t>
            </a:r>
          </a:p>
          <a:p>
            <a:pPr>
              <a:buFont typeface="Arial" panose="020B0604020202020204" pitchFamily="34" charset="0"/>
              <a:buChar char="•"/>
            </a:pPr>
            <a:r>
              <a:rPr lang="en-US" dirty="0">
                <a:solidFill>
                  <a:schemeClr val="bg1"/>
                </a:solidFill>
              </a:rPr>
              <a:t>You created an </a:t>
            </a:r>
            <a:r>
              <a:rPr lang="en-US" b="1" dirty="0">
                <a:solidFill>
                  <a:schemeClr val="bg1"/>
                </a:solidFill>
              </a:rPr>
              <a:t>abstract parent class</a:t>
            </a:r>
            <a:r>
              <a:rPr lang="en-US" dirty="0">
                <a:solidFill>
                  <a:schemeClr val="bg1"/>
                </a:solidFill>
              </a:rPr>
              <a:t> character</a:t>
            </a:r>
          </a:p>
          <a:p>
            <a:pPr>
              <a:buFont typeface="Arial" panose="020B0604020202020204" pitchFamily="34" charset="0"/>
              <a:buChar char="•"/>
            </a:pPr>
            <a:r>
              <a:rPr lang="en-US" dirty="0">
                <a:solidFill>
                  <a:schemeClr val="bg1"/>
                </a:solidFill>
              </a:rPr>
              <a:t>All other mythological characters </a:t>
            </a:r>
            <a:r>
              <a:rPr lang="en-US" b="1" dirty="0">
                <a:solidFill>
                  <a:schemeClr val="bg1"/>
                </a:solidFill>
              </a:rPr>
              <a:t>extend</a:t>
            </a:r>
            <a:r>
              <a:rPr lang="en-US" dirty="0">
                <a:solidFill>
                  <a:schemeClr val="bg1"/>
                </a:solidFill>
              </a:rPr>
              <a:t> this class.</a:t>
            </a:r>
          </a:p>
          <a:p>
            <a:r>
              <a:rPr lang="en-US" dirty="0">
                <a:solidFill>
                  <a:schemeClr val="bg1"/>
                </a:solidFill>
              </a:rPr>
              <a:t>abstract class Character {</a:t>
            </a:r>
          </a:p>
          <a:p>
            <a:r>
              <a:rPr lang="en-US" dirty="0">
                <a:solidFill>
                  <a:schemeClr val="bg1"/>
                </a:solidFill>
              </a:rPr>
              <a:t>    String name;</a:t>
            </a:r>
          </a:p>
          <a:p>
            <a:r>
              <a:rPr lang="en-US" dirty="0">
                <a:solidFill>
                  <a:schemeClr val="bg1"/>
                </a:solidFill>
              </a:rPr>
              <a:t>    Character(String name) { this.name = name; }</a:t>
            </a:r>
          </a:p>
          <a:p>
            <a:r>
              <a:rPr lang="en-US" dirty="0">
                <a:solidFill>
                  <a:schemeClr val="bg1"/>
                </a:solidFill>
              </a:rPr>
              <a:t>    abstract String attack();</a:t>
            </a:r>
          </a:p>
          <a:p>
            <a:r>
              <a:rPr lang="en-US" dirty="0">
                <a:solidFill>
                  <a:schemeClr val="bg1"/>
                </a:solidFill>
              </a:rPr>
              <a:t>    abstract String defend();</a:t>
            </a:r>
          </a:p>
          <a:p>
            <a:r>
              <a:rPr lang="en-US" dirty="0">
                <a:solidFill>
                  <a:schemeClr val="bg1"/>
                </a:solidFill>
              </a:rPr>
              <a:t>}</a:t>
            </a:r>
          </a:p>
          <a:p>
            <a:r>
              <a:rPr lang="en-US" dirty="0">
                <a:solidFill>
                  <a:schemeClr val="bg1"/>
                </a:solidFill>
              </a:rPr>
              <a:t>Child classes (Arjuna, Karna, Krishna, Bhima, </a:t>
            </a:r>
            <a:r>
              <a:rPr lang="en-US" dirty="0" err="1">
                <a:solidFill>
                  <a:schemeClr val="bg1"/>
                </a:solidFill>
              </a:rPr>
              <a:t>Dhanvantari</a:t>
            </a:r>
            <a:r>
              <a:rPr lang="en-US" dirty="0">
                <a:solidFill>
                  <a:schemeClr val="bg1"/>
                </a:solidFill>
              </a:rPr>
              <a:t>, Hanuman) </a:t>
            </a:r>
            <a:r>
              <a:rPr lang="en-US" b="1" dirty="0">
                <a:solidFill>
                  <a:schemeClr val="bg1"/>
                </a:solidFill>
              </a:rPr>
              <a:t>inherit</a:t>
            </a:r>
            <a:r>
              <a:rPr lang="en-US" dirty="0">
                <a:solidFill>
                  <a:schemeClr val="bg1"/>
                </a:solidFill>
              </a:rPr>
              <a:t> the common features from character</a:t>
            </a:r>
          </a:p>
          <a:p>
            <a:r>
              <a:rPr lang="en-US" dirty="0">
                <a:solidFill>
                  <a:schemeClr val="bg1"/>
                </a:solidFill>
              </a:rPr>
              <a:t>class Arjuna extends Character {</a:t>
            </a:r>
          </a:p>
          <a:p>
            <a:r>
              <a:rPr lang="en-US" dirty="0">
                <a:solidFill>
                  <a:schemeClr val="bg1"/>
                </a:solidFill>
              </a:rPr>
              <a:t>    Arjuna(String n){ super(n); }   // Calls parent constructor</a:t>
            </a:r>
          </a:p>
          <a:p>
            <a:r>
              <a:rPr lang="en-US" dirty="0">
                <a:solidFill>
                  <a:schemeClr val="bg1"/>
                </a:solidFill>
              </a:rPr>
              <a:t>    String attack(){ return name + " shoots arrows from Gandiva 🎯"; }</a:t>
            </a:r>
          </a:p>
          <a:p>
            <a:r>
              <a:rPr lang="en-US" dirty="0">
                <a:solidFill>
                  <a:schemeClr val="bg1"/>
                </a:solidFill>
              </a:rPr>
              <a:t>    String defend(){ return name + " blocks with divine armor 🛡️"; }</a:t>
            </a:r>
          </a:p>
          <a:p>
            <a:r>
              <a:rPr lang="en-US" dirty="0">
                <a:solidFill>
                  <a:schemeClr val="bg1"/>
                </a:solidFill>
              </a:rPr>
              <a:t>}</a:t>
            </a:r>
          </a:p>
          <a:p>
            <a:r>
              <a:rPr lang="en-US" dirty="0">
                <a:solidFill>
                  <a:schemeClr val="bg1"/>
                </a:solidFill>
              </a:rPr>
              <a:t> </a:t>
            </a:r>
          </a:p>
          <a:p>
            <a:endParaRPr lang="en-US" dirty="0">
              <a:solidFill>
                <a:schemeClr val="bg1"/>
              </a:solidFill>
            </a:endParaRP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2402400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p:cNvSpPr/>
          <p:nvPr/>
        </p:nvSpPr>
        <p:spPr>
          <a:xfrm>
            <a:off x="795528" y="2276856"/>
            <a:ext cx="13048488" cy="713232"/>
          </a:xfrm>
          <a:prstGeom prst="rect">
            <a:avLst/>
          </a:prstGeom>
          <a:noFill/>
          <a:ln/>
        </p:spPr>
        <p:txBody>
          <a:bodyPr wrap="none" lIns="0" tIns="0" rIns="0" bIns="0" rtlCol="0" anchor="ctr"/>
          <a:lstStyle/>
          <a:p>
            <a:pPr marL="0" indent="0" algn="l">
              <a:lnSpc>
                <a:spcPts val="5580"/>
              </a:lnSpc>
              <a:buNone/>
            </a:pPr>
            <a:endParaRPr lang="en-US" sz="4460" dirty="0"/>
          </a:p>
        </p:txBody>
      </p:sp>
      <p:sp>
        <p:nvSpPr>
          <p:cNvPr id="8" name="TextBox 7">
            <a:extLst>
              <a:ext uri="{FF2B5EF4-FFF2-40B4-BE49-F238E27FC236}">
                <a16:creationId xmlns:a16="http://schemas.microsoft.com/office/drawing/2014/main" id="{22BFE9B5-E297-CB7B-259F-C5AEC954F927}"/>
              </a:ext>
            </a:extLst>
          </p:cNvPr>
          <p:cNvSpPr txBox="1"/>
          <p:nvPr/>
        </p:nvSpPr>
        <p:spPr>
          <a:xfrm>
            <a:off x="795528" y="278540"/>
            <a:ext cx="7315200" cy="691856"/>
          </a:xfrm>
          <a:prstGeom prst="rect">
            <a:avLst/>
          </a:prstGeom>
          <a:noFill/>
        </p:spPr>
        <p:txBody>
          <a:bodyPr wrap="square">
            <a:spAutoFit/>
          </a:bodyPr>
          <a:lstStyle/>
          <a:p>
            <a:pPr marL="0" indent="0" algn="l">
              <a:lnSpc>
                <a:spcPts val="5580"/>
              </a:lnSpc>
              <a:buNone/>
            </a:pPr>
            <a:r>
              <a:rPr lang="en-US" dirty="0">
                <a:solidFill>
                  <a:srgbClr val="ACAEF6"/>
                </a:solidFill>
                <a:latin typeface="Times New Roman" panose="02020603050405020304" pitchFamily="18" charset="0"/>
                <a:ea typeface="思源黑体-思源黑体-Medium" pitchFamily="34" charset="-122"/>
              </a:rPr>
              <a:t>6. Use of Inheritance and Polymorphism in the code</a:t>
            </a:r>
            <a:endParaRPr lang="en-US" sz="1800" dirty="0"/>
          </a:p>
        </p:txBody>
      </p:sp>
      <p:sp>
        <p:nvSpPr>
          <p:cNvPr id="9" name="TextBox 8">
            <a:extLst>
              <a:ext uri="{FF2B5EF4-FFF2-40B4-BE49-F238E27FC236}">
                <a16:creationId xmlns:a16="http://schemas.microsoft.com/office/drawing/2014/main" id="{CF425D76-89F3-409A-2F2E-C83A1C0D9B57}"/>
              </a:ext>
            </a:extLst>
          </p:cNvPr>
          <p:cNvSpPr txBox="1"/>
          <p:nvPr/>
        </p:nvSpPr>
        <p:spPr>
          <a:xfrm>
            <a:off x="925551" y="1226634"/>
            <a:ext cx="13191893" cy="646331"/>
          </a:xfrm>
          <a:prstGeom prst="rect">
            <a:avLst/>
          </a:prstGeom>
          <a:noFill/>
        </p:spPr>
        <p:txBody>
          <a:bodyPr wrap="square" rtlCol="0">
            <a:spAutoFit/>
          </a:bodyPr>
          <a:lstStyle/>
          <a:p>
            <a:endParaRPr lang="en-US" dirty="0"/>
          </a:p>
          <a:p>
            <a:endParaRPr lang="en-US" dirty="0"/>
          </a:p>
        </p:txBody>
      </p:sp>
      <p:sp>
        <p:nvSpPr>
          <p:cNvPr id="16" name="TextBox 15">
            <a:extLst>
              <a:ext uri="{FF2B5EF4-FFF2-40B4-BE49-F238E27FC236}">
                <a16:creationId xmlns:a16="http://schemas.microsoft.com/office/drawing/2014/main" id="{341C3822-8AC7-ACCA-F1E8-57B406D49564}"/>
              </a:ext>
            </a:extLst>
          </p:cNvPr>
          <p:cNvSpPr txBox="1"/>
          <p:nvPr/>
        </p:nvSpPr>
        <p:spPr>
          <a:xfrm>
            <a:off x="1014761" y="1226634"/>
            <a:ext cx="12820111" cy="5632311"/>
          </a:xfrm>
          <a:prstGeom prst="rect">
            <a:avLst/>
          </a:prstGeom>
          <a:noFill/>
        </p:spPr>
        <p:txBody>
          <a:bodyPr wrap="square" rtlCol="0">
            <a:spAutoFit/>
          </a:bodyPr>
          <a:lstStyle/>
          <a:p>
            <a:r>
              <a:rPr lang="en-US" b="1" dirty="0">
                <a:solidFill>
                  <a:schemeClr val="bg1"/>
                </a:solidFill>
              </a:rPr>
              <a:t>What is Polymorphism?</a:t>
            </a:r>
          </a:p>
          <a:p>
            <a:r>
              <a:rPr lang="en-US" dirty="0">
                <a:solidFill>
                  <a:schemeClr val="bg1"/>
                </a:solidFill>
              </a:rPr>
              <a:t>Polymorphism means </a:t>
            </a:r>
            <a:r>
              <a:rPr lang="en-US" b="1" dirty="0">
                <a:solidFill>
                  <a:schemeClr val="bg1"/>
                </a:solidFill>
              </a:rPr>
              <a:t>one interface → multiple forms</a:t>
            </a:r>
            <a:r>
              <a:rPr lang="en-US" dirty="0">
                <a:solidFill>
                  <a:schemeClr val="bg1"/>
                </a:solidFill>
              </a:rPr>
              <a:t>.</a:t>
            </a:r>
          </a:p>
          <a:p>
            <a:r>
              <a:rPr lang="en-US" dirty="0">
                <a:solidFill>
                  <a:schemeClr val="bg1"/>
                </a:solidFill>
              </a:rPr>
              <a:t>A parent reference can </a:t>
            </a:r>
            <a:r>
              <a:rPr lang="en-US" b="1" dirty="0">
                <a:solidFill>
                  <a:schemeClr val="bg1"/>
                </a:solidFill>
              </a:rPr>
              <a:t>point to any child object</a:t>
            </a:r>
            <a:r>
              <a:rPr lang="en-US" dirty="0">
                <a:solidFill>
                  <a:schemeClr val="bg1"/>
                </a:solidFill>
              </a:rPr>
              <a:t> and call the child’s overridden methods</a:t>
            </a:r>
            <a:r>
              <a:rPr lang="en-US" dirty="0"/>
              <a:t>.</a:t>
            </a:r>
            <a:endParaRPr lang="en-US" dirty="0">
              <a:solidFill>
                <a:schemeClr val="bg1"/>
              </a:solidFill>
            </a:endParaRPr>
          </a:p>
          <a:p>
            <a:r>
              <a:rPr lang="en-US" dirty="0">
                <a:solidFill>
                  <a:schemeClr val="bg1"/>
                </a:solidFill>
              </a:rPr>
              <a:t>Where Polymorphism is used in the code</a:t>
            </a:r>
          </a:p>
          <a:p>
            <a:r>
              <a:rPr lang="en-US" dirty="0">
                <a:solidFill>
                  <a:schemeClr val="bg1"/>
                </a:solidFill>
              </a:rPr>
              <a:t>Character player = switch (</a:t>
            </a:r>
            <a:r>
              <a:rPr lang="en-US" dirty="0" err="1">
                <a:solidFill>
                  <a:schemeClr val="bg1"/>
                </a:solidFill>
              </a:rPr>
              <a:t>playerChoice</a:t>
            </a:r>
            <a:r>
              <a:rPr lang="en-US" dirty="0">
                <a:solidFill>
                  <a:schemeClr val="bg1"/>
                </a:solidFill>
              </a:rPr>
              <a:t>) {</a:t>
            </a:r>
          </a:p>
          <a:p>
            <a:r>
              <a:rPr lang="en-US" dirty="0">
                <a:solidFill>
                  <a:schemeClr val="bg1"/>
                </a:solidFill>
              </a:rPr>
              <a:t>    case 1 -&gt; new Arjuna(</a:t>
            </a:r>
            <a:r>
              <a:rPr lang="en-US" dirty="0" err="1">
                <a:solidFill>
                  <a:schemeClr val="bg1"/>
                </a:solidFill>
              </a:rPr>
              <a:t>playerName</a:t>
            </a:r>
            <a:r>
              <a:rPr lang="en-US" dirty="0">
                <a:solidFill>
                  <a:schemeClr val="bg1"/>
                </a:solidFill>
              </a:rPr>
              <a:t>);</a:t>
            </a:r>
          </a:p>
          <a:p>
            <a:r>
              <a:rPr lang="en-US" dirty="0">
                <a:solidFill>
                  <a:schemeClr val="bg1"/>
                </a:solidFill>
              </a:rPr>
              <a:t>    case 2 -&gt; new Karna(</a:t>
            </a:r>
            <a:r>
              <a:rPr lang="en-US" dirty="0" err="1">
                <a:solidFill>
                  <a:schemeClr val="bg1"/>
                </a:solidFill>
              </a:rPr>
              <a:t>playerName</a:t>
            </a:r>
            <a:r>
              <a:rPr lang="en-US" dirty="0">
                <a:solidFill>
                  <a:schemeClr val="bg1"/>
                </a:solidFill>
              </a:rPr>
              <a:t>);</a:t>
            </a:r>
          </a:p>
          <a:p>
            <a:r>
              <a:rPr lang="en-US" dirty="0">
                <a:solidFill>
                  <a:schemeClr val="bg1"/>
                </a:solidFill>
              </a:rPr>
              <a:t>    case 3 -&gt; new Krishna(</a:t>
            </a:r>
            <a:r>
              <a:rPr lang="en-US" dirty="0" err="1">
                <a:solidFill>
                  <a:schemeClr val="bg1"/>
                </a:solidFill>
              </a:rPr>
              <a:t>playerName</a:t>
            </a:r>
            <a:r>
              <a:rPr lang="en-US" dirty="0">
                <a:solidFill>
                  <a:schemeClr val="bg1"/>
                </a:solidFill>
              </a:rPr>
              <a:t>);</a:t>
            </a:r>
          </a:p>
          <a:p>
            <a:r>
              <a:rPr lang="en-US" dirty="0">
                <a:solidFill>
                  <a:schemeClr val="bg1"/>
                </a:solidFill>
              </a:rPr>
              <a:t>    case 4 -&gt; new Bhima(</a:t>
            </a:r>
            <a:r>
              <a:rPr lang="en-US" dirty="0" err="1">
                <a:solidFill>
                  <a:schemeClr val="bg1"/>
                </a:solidFill>
              </a:rPr>
              <a:t>playerName</a:t>
            </a:r>
            <a:r>
              <a:rPr lang="en-US" dirty="0">
                <a:solidFill>
                  <a:schemeClr val="bg1"/>
                </a:solidFill>
              </a:rPr>
              <a:t>);</a:t>
            </a:r>
          </a:p>
          <a:p>
            <a:r>
              <a:rPr lang="en-US" dirty="0">
                <a:solidFill>
                  <a:schemeClr val="bg1"/>
                </a:solidFill>
              </a:rPr>
              <a:t>    case 5 -&gt; new </a:t>
            </a:r>
            <a:r>
              <a:rPr lang="en-US" dirty="0" err="1">
                <a:solidFill>
                  <a:schemeClr val="bg1"/>
                </a:solidFill>
              </a:rPr>
              <a:t>Dhanvantari</a:t>
            </a:r>
            <a:r>
              <a:rPr lang="en-US" dirty="0">
                <a:solidFill>
                  <a:schemeClr val="bg1"/>
                </a:solidFill>
              </a:rPr>
              <a:t>(</a:t>
            </a:r>
            <a:r>
              <a:rPr lang="en-US" dirty="0" err="1">
                <a:solidFill>
                  <a:schemeClr val="bg1"/>
                </a:solidFill>
              </a:rPr>
              <a:t>playerName</a:t>
            </a:r>
            <a:r>
              <a:rPr lang="en-US" dirty="0">
                <a:solidFill>
                  <a:schemeClr val="bg1"/>
                </a:solidFill>
              </a:rPr>
              <a:t>);</a:t>
            </a:r>
          </a:p>
          <a:p>
            <a:r>
              <a:rPr lang="en-US" dirty="0">
                <a:solidFill>
                  <a:schemeClr val="bg1"/>
                </a:solidFill>
              </a:rPr>
              <a:t>    case 6 -&gt; new Hanuman(</a:t>
            </a:r>
            <a:r>
              <a:rPr lang="en-US" dirty="0" err="1">
                <a:solidFill>
                  <a:schemeClr val="bg1"/>
                </a:solidFill>
              </a:rPr>
              <a:t>playerName</a:t>
            </a:r>
            <a:r>
              <a:rPr lang="en-US" dirty="0">
                <a:solidFill>
                  <a:schemeClr val="bg1"/>
                </a:solidFill>
              </a:rPr>
              <a:t>);</a:t>
            </a:r>
          </a:p>
          <a:p>
            <a:r>
              <a:rPr lang="en-US" dirty="0">
                <a:solidFill>
                  <a:schemeClr val="bg1"/>
                </a:solidFill>
              </a:rPr>
              <a:t>};</a:t>
            </a:r>
          </a:p>
          <a:p>
            <a:r>
              <a:rPr lang="en-US" dirty="0">
                <a:solidFill>
                  <a:schemeClr val="bg1"/>
                </a:solidFill>
              </a:rPr>
              <a:t>Here:</a:t>
            </a:r>
          </a:p>
          <a:p>
            <a:r>
              <a:rPr lang="en-US" dirty="0">
                <a:solidFill>
                  <a:schemeClr val="bg1"/>
                </a:solidFill>
              </a:rPr>
              <a:t>Player is of </a:t>
            </a:r>
            <a:r>
              <a:rPr lang="en-US" b="1" dirty="0">
                <a:solidFill>
                  <a:schemeClr val="bg1"/>
                </a:solidFill>
              </a:rPr>
              <a:t>Character (parent) type</a:t>
            </a:r>
          </a:p>
          <a:p>
            <a:r>
              <a:rPr lang="en-US" dirty="0">
                <a:solidFill>
                  <a:schemeClr val="bg1"/>
                </a:solidFill>
              </a:rPr>
              <a:t>But it holds </a:t>
            </a:r>
            <a:r>
              <a:rPr lang="en-US" b="1" dirty="0">
                <a:solidFill>
                  <a:schemeClr val="bg1"/>
                </a:solidFill>
              </a:rPr>
              <a:t>different child class objects</a:t>
            </a:r>
            <a:r>
              <a:rPr lang="en-US" dirty="0">
                <a:solidFill>
                  <a:schemeClr val="bg1"/>
                </a:solidFill>
              </a:rPr>
              <a:t> based on selection</a:t>
            </a:r>
          </a:p>
          <a:p>
            <a:r>
              <a:rPr lang="en-US" dirty="0" err="1">
                <a:solidFill>
                  <a:schemeClr val="bg1"/>
                </a:solidFill>
              </a:rPr>
              <a:t>player.attack</a:t>
            </a:r>
            <a:r>
              <a:rPr lang="en-US" dirty="0">
                <a:solidFill>
                  <a:schemeClr val="bg1"/>
                </a:solidFill>
              </a:rPr>
              <a:t>();</a:t>
            </a:r>
          </a:p>
          <a:p>
            <a:r>
              <a:rPr lang="en-US" dirty="0" err="1">
                <a:solidFill>
                  <a:schemeClr val="bg1"/>
                </a:solidFill>
              </a:rPr>
              <a:t>enemy.defend</a:t>
            </a:r>
            <a:r>
              <a:rPr lang="en-US" dirty="0">
                <a:solidFill>
                  <a:schemeClr val="bg1"/>
                </a:solidFill>
              </a:rPr>
              <a:t>();</a:t>
            </a:r>
          </a:p>
          <a:p>
            <a:r>
              <a:rPr lang="en-US" dirty="0">
                <a:solidFill>
                  <a:schemeClr val="bg1"/>
                </a:solidFill>
              </a:rPr>
              <a:t>The </a:t>
            </a:r>
            <a:r>
              <a:rPr lang="en-US" b="1" dirty="0">
                <a:solidFill>
                  <a:schemeClr val="bg1"/>
                </a:solidFill>
              </a:rPr>
              <a:t>correct version of the method</a:t>
            </a:r>
            <a:r>
              <a:rPr lang="en-US" dirty="0">
                <a:solidFill>
                  <a:schemeClr val="bg1"/>
                </a:solidFill>
              </a:rPr>
              <a:t> runs depending on the </a:t>
            </a:r>
            <a:r>
              <a:rPr lang="en-US" b="1" dirty="0">
                <a:solidFill>
                  <a:schemeClr val="bg1"/>
                </a:solidFill>
              </a:rPr>
              <a:t>actual object type</a:t>
            </a:r>
            <a:r>
              <a:rPr lang="en-US" dirty="0">
                <a:solidFill>
                  <a:schemeClr val="bg1"/>
                </a:solidFill>
              </a:rPr>
              <a:t>, not the reference type.</a:t>
            </a: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607284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3502152"/>
            <a:ext cx="13048488" cy="978408"/>
          </a:xfrm>
          <a:prstGeom prst="rect">
            <a:avLst/>
          </a:prstGeom>
          <a:noFill/>
          <a:ln/>
        </p:spPr>
        <p:txBody>
          <a:bodyPr wrap="none" lIns="0" tIns="0" rIns="0" bIns="0" rtlCol="0" anchor="ctr"/>
          <a:lstStyle/>
          <a:p>
            <a:pPr marL="0" indent="0" algn="ctr">
              <a:lnSpc>
                <a:spcPts val="7700"/>
              </a:lnSpc>
              <a:buNone/>
            </a:pPr>
            <a:r>
              <a:rPr lang="en-US" sz="6160" dirty="0">
                <a:solidFill>
                  <a:srgbClr val="ACAEF6"/>
                </a:solidFill>
                <a:latin typeface="Times New Roman" panose="02020603050405020304" pitchFamily="18" charset="0"/>
                <a:ea typeface="思源黑体-思源黑体-Medium" pitchFamily="34" charset="-122"/>
                <a:cs typeface="Times New Roman" panose="02020603050405020304" pitchFamily="18" charset="0"/>
              </a:rPr>
              <a:t>Thank You</a:t>
            </a:r>
            <a:endParaRPr lang="en-US" sz="61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2532</Words>
  <Application>Microsoft Office PowerPoint</Application>
  <PresentationFormat>Custom</PresentationFormat>
  <Paragraphs>303</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Segoe UI Emoji</vt:lpstr>
      <vt:lpstr>Segoe UI 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Pujitha S</cp:lastModifiedBy>
  <cp:revision>5</cp:revision>
  <dcterms:created xsi:type="dcterms:W3CDTF">2025-10-29T02:27:37Z</dcterms:created>
  <dcterms:modified xsi:type="dcterms:W3CDTF">2025-10-30T02:38:53Z</dcterms:modified>
</cp:coreProperties>
</file>